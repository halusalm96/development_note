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16" y="2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76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3000" b="1" dirty="0" err="1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산업의</a:t>
            </a:r>
            <a:r>
              <a:rPr lang="en-US" sz="30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Waves of the IT Industry — According to NFX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14년마다 찾아오는 거대한 흐름 — 닷컴, 모바일, 그리고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4069080"/>
          </a:xfrm>
          <a:prstGeom prst="rect">
            <a:avLst/>
          </a:prstGeom>
          <a:solidFill>
            <a:srgbClr val="FBF1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73152" cy="4069080"/>
          </a:xfrm>
          <a:prstGeom prst="rect">
            <a:avLst/>
          </a:prstGeom>
          <a:solidFill>
            <a:srgbClr val="C84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8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9164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닷컴 시대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8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Dot-com Era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 — 2000년대 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9900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· 정보의 디지털화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644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· WWW 대중화 · Netscape IPO (1995)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C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· HTML/HTTP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검색엔진 · 전자상거래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SaaS (Salesforce, 1999)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7091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C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승자 / Winners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4937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Amazon · eBay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· Yahoo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4406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쇠퇴 / Faded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5623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Pets.com · Webvan · AltaVista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1783080"/>
            <a:ext cx="3657600" cy="4069080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51960" y="1783080"/>
            <a:ext cx="73152" cy="4069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480560" y="19202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8640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시대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48640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Era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97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— 2010년대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29900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· 컴퓨팅의 일상화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2644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· iPhone 출시 (2007)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36118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0" y="3840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· 모바일 앱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(AWS) · 4G LTE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미디어 · 공유경제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47091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승자 / Winners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4937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· Meta · Uber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· Netflix · AWS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54406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쇠퇴 / Faded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80560" y="5623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· BlackBerry · Yahoo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46720" y="1783080"/>
            <a:ext cx="3657600" cy="4069080"/>
          </a:xfrm>
          <a:prstGeom prst="rect">
            <a:avLst/>
          </a:prstGeom>
          <a:solidFill>
            <a:srgbClr val="FBF6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046720" y="1783080"/>
            <a:ext cx="73152" cy="406908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275320" y="19202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28116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28116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Era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75320" y="2697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현재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75320" y="29900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· 지능의 자동화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75320" y="32644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· ChatGPT 출시 (2022.11)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75320" y="36118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75320" y="3840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Transformer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· 멀티모달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AI 가속기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75320" y="47091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승자 / Winners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75320" y="4937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· Microsoft · Google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75320" y="54406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쇠퇴 / Faded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75320" y="5623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(진행 중)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6035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 처   |   S O U R C E 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291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0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</a:t>
            </a: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3 Waves of Successful Generative AI Startups (2023)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51960" y="6291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0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Meeker</a:t>
            </a: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Trends in Artificial Intelligence (2025)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46720" y="6291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0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IDE</a:t>
            </a: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Next Wave of the Digital Economy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Lessons from Riding the Three Waves of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4297680"/>
          </a:xfrm>
          <a:prstGeom prst="rect">
            <a:avLst/>
          </a:prstGeom>
          <a:solidFill>
            <a:srgbClr val="FBF1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4297680"/>
          </a:xfrm>
          <a:prstGeom prst="rect">
            <a:avLst/>
          </a:prstGeom>
          <a:solidFill>
            <a:srgbClr val="C84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8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도메인의 중요성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가장 자주 잊혀지는 진실이다. 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Bezos가 닷컴 시대에 살아남은 건 '인터넷'을 안 게 아니라 '책 유통의 long tail'을 이해했기 때문이고, Uber의 성공도 '앱'이 아니라 '택시 산업의 규제와 운전자 행동'을 이해했기 때문이다.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시대도 똑같은 시험대에 서 있다. 닷컴 때 Yahoo가 Google에게 졌듯이, 도메인이 항상 이기는 건 아니다. 다만 도메인 없이 이기는 건 매우 드물고 매우 짧다는 게 패턴이다.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3657600" cy="4297680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251960" y="1463040"/>
            <a:ext cx="73152" cy="4297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80560" y="162763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247640" y="16642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</a:t>
            </a: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</a:t>
            </a: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600" b="1" dirty="0" err="1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스펙과</a:t>
            </a: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구현체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구분은 진짜 중요한데 의외로 많은 사람이 안 한다. 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HTTP(스펙)와 Nginx(구현체), SQL과 PostgreSQL — 섞어 쓰면 토론이 산으로 간다. 구현체 3분법(바로실행 / 컨테이너형 / 라이브러리형)이 특히 깔끔하다.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스펙  </a:t>
            </a: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· MCP · API 포맷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3803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바로실행  </a:t>
            </a: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Claude.ai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컨테이너형  </a:t>
            </a: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vLLM·Ollama로 띄운 Llama · Docker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라이브러리형  </a:t>
            </a: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Transformers · LangChain · SDK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47000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 안 하면 'ChatGPT 쓰자'가 API인지 웹 서비스인지 자체 호스팅인지 끝없이 헷갈린다.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463040"/>
            <a:ext cx="3657600" cy="4297680"/>
          </a:xfrm>
          <a:prstGeom prst="rect">
            <a:avLst/>
          </a:prstGeom>
          <a:solidFill>
            <a:srgbClr val="FBF6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046720" y="1463040"/>
            <a:ext cx="73152" cy="429768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75320" y="162763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052560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원천기술 </a:t>
            </a:r>
            <a:r>
              <a:rPr lang="en-US" altLang="ko-KR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ko-KR" alt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고객과 맥락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5320" y="233172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115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망치를 만들고 못을 찾아 다닌다 </a:t>
            </a:r>
            <a:r>
              <a:rPr lang="en-US" sz="115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endParaRPr lang="en-US" altLang="ko-KR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200" dirty="0"/>
              <a:t>각 물결의 승자는 </a:t>
            </a:r>
            <a:r>
              <a:rPr lang="en-US" altLang="ko-KR" sz="1200" dirty="0"/>
              <a:t>"</a:t>
            </a:r>
            <a:r>
              <a:rPr lang="ko-KR" altLang="en-US" sz="1200" dirty="0"/>
              <a:t>가장 뛰어난 원천기술을 가진 자</a:t>
            </a:r>
            <a:r>
              <a:rPr lang="en-US" altLang="ko-KR" sz="1200" dirty="0"/>
              <a:t>"</a:t>
            </a:r>
            <a:r>
              <a:rPr lang="ko-KR" altLang="en-US" sz="1200" dirty="0"/>
              <a:t>가 아니라 </a:t>
            </a:r>
            <a:r>
              <a:rPr lang="en-US" altLang="ko-KR" sz="1200" dirty="0"/>
              <a:t>"</a:t>
            </a:r>
            <a:r>
              <a:rPr lang="ko-KR" altLang="en-US" sz="1200" dirty="0"/>
              <a:t>고객과 응용 맥락을 장악한 자</a:t>
            </a:r>
            <a:r>
              <a:rPr lang="en-US" altLang="ko-KR" sz="1200" dirty="0"/>
              <a:t>"</a:t>
            </a:r>
            <a:r>
              <a:rPr lang="ko-KR" altLang="en-US" sz="1200" dirty="0"/>
              <a:t>였다는 점</a:t>
            </a:r>
            <a:endParaRPr lang="en-US" altLang="ko-KR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altLang="ko-KR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200" dirty="0"/>
              <a:t>기술적으로 멋진 것과 누군가 필요로 하는 것은 전혀 다르다</a:t>
            </a:r>
            <a:r>
              <a:rPr lang="en-US" altLang="ko-KR" sz="1200" dirty="0"/>
              <a:t>.</a:t>
            </a:r>
            <a:r>
              <a:rPr lang="ko-KR" altLang="en-US" sz="1200" dirty="0"/>
              <a:t> 구체적인 고객이 없으면 무엇을 만들지 결정할 기준이 없으므로 </a:t>
            </a:r>
            <a:r>
              <a:rPr lang="en-US" altLang="ko-KR" sz="1200" dirty="0"/>
              <a:t>"</a:t>
            </a:r>
            <a:r>
              <a:rPr lang="ko-KR" altLang="en-US" sz="1200" dirty="0"/>
              <a:t>범용적으로</a:t>
            </a:r>
            <a:r>
              <a:rPr lang="en-US" altLang="ko-KR" sz="1200" dirty="0"/>
              <a:t>, </a:t>
            </a:r>
            <a:r>
              <a:rPr lang="ko-KR" altLang="en-US" sz="1200" dirty="0"/>
              <a:t>다 되게</a:t>
            </a:r>
            <a:r>
              <a:rPr lang="en-US" altLang="ko-KR" sz="1200" dirty="0"/>
              <a:t>" </a:t>
            </a:r>
            <a:r>
              <a:rPr lang="ko-KR" altLang="en-US" sz="1200" dirty="0"/>
              <a:t>만드는 방향으로 흐르는데</a:t>
            </a:r>
            <a:r>
              <a:rPr lang="en-US" altLang="ko-KR" sz="1200" dirty="0"/>
              <a:t>, </a:t>
            </a:r>
            <a:r>
              <a:rPr lang="ko-KR" altLang="en-US" sz="1200" dirty="0"/>
              <a:t>이 제품은 결국 누구를 위한 것도 아니게 된다</a:t>
            </a:r>
            <a:r>
              <a:rPr lang="en-US" altLang="ko-KR" sz="1200" dirty="0"/>
              <a:t>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altLang="ko-KR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altLang="ko-KR" sz="1200" dirty="0"/>
              <a:t> </a:t>
            </a:r>
            <a:r>
              <a:rPr lang="ko-KR" altLang="en-US" sz="1200" dirty="0"/>
              <a:t>기능은 비대해지고 핵심은 흐려진다</a:t>
            </a:r>
            <a:r>
              <a:rPr lang="en-US" altLang="ko-KR" sz="1200" dirty="0"/>
              <a:t>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943600"/>
            <a:ext cx="11247120" cy="658368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5943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물결을 타는 게 아니라, 물결이 지나간 자리에 무엇이 남는지를 보는 사람이 이긴다.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525</Words>
  <Application>Microsoft Macintosh PowerPoint</Application>
  <PresentationFormat>와이드스크린</PresentationFormat>
  <Paragraphs>81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NFX가 말하는 IT 산업의 3대 물결</dc:title>
  <dc:subject>PptxGenJS Presentation</dc:subject>
  <dc:creator>PptxGenJS</dc:creator>
  <cp:lastModifiedBy>광식 이</cp:lastModifiedBy>
  <cp:revision>4</cp:revision>
  <dcterms:created xsi:type="dcterms:W3CDTF">2026-05-20T03:21:12Z</dcterms:created>
  <dcterms:modified xsi:type="dcterms:W3CDTF">2026-05-22T10:08:32Z</dcterms:modified>
</cp:coreProperties>
</file>