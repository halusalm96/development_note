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LoRA &amp; 파인튜닝 도구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완전 정리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8229600" cy="658368"/>
          </a:xfrm>
          <a:prstGeom prst="rect">
            <a:avLst/>
          </a:prstGeom>
          <a:solidFill>
            <a:srgbClr val="1E1840"/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286000"/>
            <a:ext cx="54864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04288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LoRA</a:t>
            </a:r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=  Low-Rank Adaptation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(저랭크 적응)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Microsoft · Edward Hu et al. · 현재 파인튜닝 업계 사실상 표준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29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방법론 비교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51760" y="342900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3429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도구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342900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12700">
            <a:solidFill>
              <a:srgbClr val="4FC3F7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429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 솔루션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0" y="342900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12700">
            <a:solidFill>
              <a:srgbClr val="FB923C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3429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가이드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LoRA란 무엇인가?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6032" y="5120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Low-Rank Adaptation — 저랭크 행렬 분해로 파라미터 0.1~1%만 학습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8641080" cy="822960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77824"/>
            <a:ext cx="274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77240" y="9144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3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ow-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877824"/>
            <a:ext cx="274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783080" y="9144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3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23160" y="877824"/>
            <a:ext cx="274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97480" y="9144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3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daptation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0" y="877824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저(低)랭크 행렬로 가중치 변화량을 근사하여 기존 모델에 적응시키는 기법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계보 및 발전 흐름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032" y="2176272"/>
            <a:ext cx="1316736" cy="2651760"/>
          </a:xfrm>
          <a:prstGeom prst="roundRect">
            <a:avLst>
              <a:gd name="adj" fmla="val 6944"/>
            </a:avLst>
          </a:prstGeom>
          <a:solidFill>
            <a:srgbClr val="F3F4F6"/>
          </a:solidFill>
          <a:ln w="12700">
            <a:solidFill>
              <a:srgbClr val="6B7280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2176272"/>
            <a:ext cx="1316736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249424"/>
            <a:ext cx="914400" cy="237744"/>
          </a:xfrm>
          <a:prstGeom prst="roundRect">
            <a:avLst>
              <a:gd name="adj" fmla="val 26923"/>
            </a:avLst>
          </a:prstGeom>
          <a:solidFill>
            <a:srgbClr val="6B7280">
              <a:alpha val="20000"/>
            </a:srgbClr>
          </a:solidFill>
          <a:ln w="12700">
            <a:solidFill>
              <a:srgbClr val="6B7280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24942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" y="256032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" y="2926080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" y="3182112"/>
            <a:ext cx="1170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처음으로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소형 어댑터 삽입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91640" y="2176272"/>
            <a:ext cx="1316736" cy="2651760"/>
          </a:xfrm>
          <a:prstGeom prst="roundRect">
            <a:avLst>
              <a:gd name="adj" fmla="val 6944"/>
            </a:avLst>
          </a:prstGeom>
          <a:solidFill>
            <a:srgbClr val="EDE9FE"/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91640" y="2176272"/>
            <a:ext cx="1316736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92808" y="2249424"/>
            <a:ext cx="914400" cy="237744"/>
          </a:xfrm>
          <a:prstGeom prst="roundRect">
            <a:avLst>
              <a:gd name="adj" fmla="val 26923"/>
            </a:avLst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92808" y="224942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64792" y="256032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64792" y="2926080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764792" y="3182112"/>
            <a:ext cx="1170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저랭크 행렬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분해 도입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27248" y="2176272"/>
            <a:ext cx="1316736" cy="2651760"/>
          </a:xfrm>
          <a:prstGeom prst="roundRect">
            <a:avLst>
              <a:gd name="adj" fmla="val 6944"/>
            </a:avLst>
          </a:prstGeom>
          <a:solidFill>
            <a:srgbClr val="DBEAFE"/>
          </a:solidFill>
          <a:ln w="12700">
            <a:solidFill>
              <a:srgbClr val="1D4ED8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27248" y="2176272"/>
            <a:ext cx="1316736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28416" y="2249424"/>
            <a:ext cx="914400" cy="237744"/>
          </a:xfrm>
          <a:prstGeom prst="roundRect">
            <a:avLst>
              <a:gd name="adj" fmla="val 26923"/>
            </a:avLst>
          </a:prstGeom>
          <a:solidFill>
            <a:srgbClr val="1D4ED8">
              <a:alpha val="20000"/>
            </a:srgbClr>
          </a:solidFill>
          <a:ln w="12700">
            <a:solidFill>
              <a:srgbClr val="1D4ED8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28416" y="224942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00400" y="256032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Prefix Tuning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00400" y="2926080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0" y="3182112"/>
            <a:ext cx="1170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접두사 벡터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62856" y="2176272"/>
            <a:ext cx="1316736" cy="2651760"/>
          </a:xfrm>
          <a:prstGeom prst="roundRect">
            <a:avLst>
              <a:gd name="adj" fmla="val 6944"/>
            </a:avLst>
          </a:prstGeom>
          <a:solidFill>
            <a:srgbClr val="D1FAE5"/>
          </a:solidFill>
          <a:ln w="12700">
            <a:solidFill>
              <a:srgbClr val="0F6E56">
                <a:alpha val="5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62856" y="2176272"/>
            <a:ext cx="1316736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64024" y="2249424"/>
            <a:ext cx="914400" cy="237744"/>
          </a:xfrm>
          <a:prstGeom prst="roundRect">
            <a:avLst>
              <a:gd name="adj" fmla="val 26923"/>
            </a:avLst>
          </a:prstGeom>
          <a:solidFill>
            <a:srgbClr val="0F6E56">
              <a:alpha val="20000"/>
            </a:srgbClr>
          </a:solidFill>
          <a:ln w="12700">
            <a:solidFill>
              <a:srgbClr val="0F6E56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64024" y="224942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36008" y="256032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QLoRA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636008" y="2926080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UW/HF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636008" y="3182112"/>
            <a:ext cx="1170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4bit 양자화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LoRA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998464" y="2176272"/>
            <a:ext cx="1316736" cy="2651760"/>
          </a:xfrm>
          <a:prstGeom prst="roundRect">
            <a:avLst>
              <a:gd name="adj" fmla="val 6944"/>
            </a:avLst>
          </a:prstGeom>
          <a:solidFill>
            <a:srgbClr val="FEF3C7"/>
          </a:solidFill>
          <a:ln w="12700">
            <a:solidFill>
              <a:srgbClr val="B45309">
                <a:alpha val="5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98464" y="2176272"/>
            <a:ext cx="1316736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99632" y="2249424"/>
            <a:ext cx="914400" cy="237744"/>
          </a:xfrm>
          <a:prstGeom prst="roundRect">
            <a:avLst>
              <a:gd name="adj" fmla="val 26923"/>
            </a:avLst>
          </a:prstGeom>
          <a:solidFill>
            <a:srgbClr val="B45309">
              <a:alpha val="20000"/>
            </a:srgbClr>
          </a:solidFill>
          <a:ln w="12700">
            <a:solidFill>
              <a:srgbClr val="B45309">
                <a:alpha val="5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99632" y="224942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071616" y="256032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DoRA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071616" y="2926080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071616" y="3182112"/>
            <a:ext cx="1170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방향·크기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분리 학습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434072" y="2176272"/>
            <a:ext cx="1316736" cy="2651760"/>
          </a:xfrm>
          <a:prstGeom prst="roundRect">
            <a:avLst>
              <a:gd name="adj" fmla="val 6944"/>
            </a:avLst>
          </a:prstGeom>
          <a:solidFill>
            <a:srgbClr val="FEE2E2"/>
          </a:solidFill>
          <a:ln w="12700">
            <a:solidFill>
              <a:srgbClr val="DC2626">
                <a:alpha val="5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34072" y="2176272"/>
            <a:ext cx="1316736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635240" y="2249424"/>
            <a:ext cx="914400" cy="237744"/>
          </a:xfrm>
          <a:prstGeom prst="roundRect">
            <a:avLst>
              <a:gd name="adj" fmla="val 26923"/>
            </a:avLst>
          </a:prstGeom>
          <a:solidFill>
            <a:srgbClr val="DC2626">
              <a:alpha val="20000"/>
            </a:srgbClr>
          </a:solidFill>
          <a:ln w="12700">
            <a:solidFill>
              <a:srgbClr val="DC2626">
                <a:alpha val="5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35240" y="224942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507224" y="256032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GaLore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507224" y="2926080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연구팀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507224" y="3182112"/>
            <a:ext cx="1170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그래디언트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저랭크 투영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691640" y="4645152"/>
            <a:ext cx="1316736" cy="256032"/>
          </a:xfrm>
          <a:prstGeom prst="roundRect">
            <a:avLst>
              <a:gd name="adj" fmla="val 25000"/>
            </a:avLst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691640" y="4645152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표준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Lv.2 파인튜닝 방법론 비교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6032" y="5120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파인튜닝이지만 메모리·성능·난이도가 다르다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864108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8595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37360" y="8595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풀네임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93008" y="859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434840" y="8595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965192" y="8595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아이디어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903720" y="85953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26680" y="8595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" y="1188720"/>
            <a:ext cx="8641080" cy="457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" y="12252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55648" y="122529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파라미터 학습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11296" y="122529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53128" y="122529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~2019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83480" y="122529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파라미터를 직접 업데이트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22008" y="1298448"/>
            <a:ext cx="768096" cy="228600"/>
          </a:xfrm>
          <a:prstGeom prst="roundRect">
            <a:avLst>
              <a:gd name="adj" fmla="val 24000"/>
            </a:avLst>
          </a:prstGeom>
          <a:solidFill>
            <a:srgbClr val="FEE2E2"/>
          </a:solidFill>
          <a:ln w="12700">
            <a:solidFill>
              <a:srgbClr val="991B1B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22008" y="1298448"/>
            <a:ext cx="768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매우 높음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744968" y="1298448"/>
            <a:ext cx="960120" cy="228600"/>
          </a:xfrm>
          <a:prstGeom prst="roundRect">
            <a:avLst>
              <a:gd name="adj" fmla="val 24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44968" y="1298448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최고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56032" y="1664208"/>
            <a:ext cx="8641080" cy="457200"/>
          </a:xfrm>
          <a:prstGeom prst="rect">
            <a:avLst/>
          </a:prstGeom>
          <a:solidFill>
            <a:srgbClr val="F5F0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1664208"/>
            <a:ext cx="36576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" y="17007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LoRA ★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755648" y="170078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Low-Rank Adaptation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11296" y="170078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53128" y="170078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83480" y="170078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W₀ + BA (B·A: 소형 저랭크 행렬)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22008" y="1773936"/>
            <a:ext cx="768096" cy="228600"/>
          </a:xfrm>
          <a:prstGeom prst="roundRect">
            <a:avLst>
              <a:gd name="adj" fmla="val 24000"/>
            </a:avLst>
          </a:prstGeom>
          <a:solidFill>
            <a:srgbClr val="EDE9FE"/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22008" y="1773936"/>
            <a:ext cx="768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낮음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744968" y="1773936"/>
            <a:ext cx="960120" cy="228600"/>
          </a:xfrm>
          <a:prstGeom prst="roundRect">
            <a:avLst>
              <a:gd name="adj" fmla="val 24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44968" y="1773936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우수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6032" y="2139696"/>
            <a:ext cx="8641080" cy="457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0896" y="21762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755648" y="217627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LoRA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511296" y="217627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/ HF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53128" y="217627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83480" y="21762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4bit NF4 양자화 + LoRA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22008" y="2249424"/>
            <a:ext cx="768096" cy="228600"/>
          </a:xfrm>
          <a:prstGeom prst="roundRect">
            <a:avLst>
              <a:gd name="adj" fmla="val 24000"/>
            </a:avLst>
          </a:prstGeom>
          <a:solidFill>
            <a:srgbClr val="D1FAE5"/>
          </a:solidFill>
          <a:ln w="12700">
            <a:solidFill>
              <a:srgbClr val="0F6E56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22008" y="2249424"/>
            <a:ext cx="768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매우 낮음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744968" y="2249424"/>
            <a:ext cx="960120" cy="228600"/>
          </a:xfrm>
          <a:prstGeom prst="roundRect">
            <a:avLst>
              <a:gd name="adj" fmla="val 24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44968" y="2249424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유사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56032" y="2615184"/>
            <a:ext cx="8641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0896" y="2651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755648" y="26517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Weight-Decomposed LoRA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511296" y="26517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453128" y="26517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83480" y="26517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가중치를 방향·크기로 분리 학습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922008" y="2724912"/>
            <a:ext cx="768096" cy="228600"/>
          </a:xfrm>
          <a:prstGeom prst="roundRect">
            <a:avLst>
              <a:gd name="adj" fmla="val 24000"/>
            </a:avLst>
          </a:prstGeom>
          <a:solidFill>
            <a:srgbClr val="EDE9FE"/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22008" y="2724912"/>
            <a:ext cx="768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낮음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744968" y="2724912"/>
            <a:ext cx="960120" cy="228600"/>
          </a:xfrm>
          <a:prstGeom prst="roundRect">
            <a:avLst>
              <a:gd name="adj" fmla="val 24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44968" y="2724912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이상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56032" y="3090672"/>
            <a:ext cx="8641080" cy="457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0896" y="31272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LoRA+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755648" y="312724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B·A 다른 학습률 적용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511296" y="312724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연구팀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453128" y="312724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983480" y="312724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행렬 B에 더 큰 학습률 적용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922008" y="3200400"/>
            <a:ext cx="768096" cy="228600"/>
          </a:xfrm>
          <a:prstGeom prst="roundRect">
            <a:avLst>
              <a:gd name="adj" fmla="val 24000"/>
            </a:avLst>
          </a:prstGeom>
          <a:solidFill>
            <a:srgbClr val="EDE9FE"/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22008" y="3200400"/>
            <a:ext cx="768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낮음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744968" y="3200400"/>
            <a:ext cx="960120" cy="228600"/>
          </a:xfrm>
          <a:prstGeom prst="roundRect">
            <a:avLst>
              <a:gd name="adj" fmla="val 24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44968" y="320040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+2% 개선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56032" y="3566160"/>
            <a:ext cx="8641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10896" y="36027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Tuning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1755648" y="360273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접두사 벡터 학습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511296" y="360273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453128" y="360273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983480" y="360273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앞에 학습 가능한 토큰 추가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922008" y="3675888"/>
            <a:ext cx="768096" cy="228600"/>
          </a:xfrm>
          <a:prstGeom prst="roundRect">
            <a:avLst>
              <a:gd name="adj" fmla="val 24000"/>
            </a:avLst>
          </a:prstGeom>
          <a:solidFill>
            <a:srgbClr val="EDE9FE"/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922008" y="3675888"/>
            <a:ext cx="768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낮음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744968" y="3675888"/>
            <a:ext cx="960120" cy="228600"/>
          </a:xfrm>
          <a:prstGeom prst="roundRect">
            <a:avLst>
              <a:gd name="adj" fmla="val 24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744968" y="3675888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보통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56032" y="4041648"/>
            <a:ext cx="8641080" cy="457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10896" y="40782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Tuning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1755648" y="407822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소프트 프롬프트 학습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3511296" y="407822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453128" y="407822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983480" y="40782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임베딩 벡터만 학습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922008" y="4151376"/>
            <a:ext cx="768096" cy="228600"/>
          </a:xfrm>
          <a:prstGeom prst="roundRect">
            <a:avLst>
              <a:gd name="adj" fmla="val 24000"/>
            </a:avLst>
          </a:prstGeom>
          <a:solidFill>
            <a:srgbClr val="D1FAE5"/>
          </a:solidFill>
          <a:ln w="12700">
            <a:solidFill>
              <a:srgbClr val="0F6E56">
                <a:alpha val="60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922008" y="4151376"/>
            <a:ext cx="768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7744968" y="4151376"/>
            <a:ext cx="960120" cy="228600"/>
          </a:xfrm>
          <a:prstGeom prst="roundRect">
            <a:avLst>
              <a:gd name="adj" fmla="val 24000"/>
            </a:avLst>
          </a:prstGeom>
          <a:solidFill>
            <a:srgbClr val="FEE2E2"/>
          </a:solidFill>
          <a:ln w="12700">
            <a:solidFill>
              <a:srgbClr val="991B1B">
                <a:alpha val="6000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744968" y="4151376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소규모 약함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256032" y="4517136"/>
            <a:ext cx="8641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10896" y="45537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GaLore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1755648" y="455371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Low-Rank Proj.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3511296" y="45537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연구팀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453128" y="455371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4983480" y="455371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학습인데 메모리는 LoRA급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922008" y="4626864"/>
            <a:ext cx="768096" cy="228600"/>
          </a:xfrm>
          <a:prstGeom prst="roundRect">
            <a:avLst>
              <a:gd name="adj" fmla="val 24000"/>
            </a:avLst>
          </a:prstGeom>
          <a:solidFill>
            <a:srgbClr val="EDE9FE"/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922008" y="4626864"/>
            <a:ext cx="768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낮음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7744968" y="4626864"/>
            <a:ext cx="960120" cy="228600"/>
          </a:xfrm>
          <a:prstGeom prst="roundRect">
            <a:avLst>
              <a:gd name="adj" fmla="val 24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744968" y="4626864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풀에 근접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256032" y="4882896"/>
            <a:ext cx="8641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LoRA가 현재 업계 표준 · 대부분의 파인튜닝 도구가 LoRA 기반 · QLoRA = 소비자 GPU에서도 70B 모델 학습 가능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오픈소스 파인튜닝 도구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6032" y="5120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무료로 쓸 수 있는 대표 도구 8종 — 대부분 Apache 2.0 라이선스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8641080" cy="310896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85953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도구명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28800" y="8595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만든 곳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044952" y="8595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15584" y="8595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 방법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97496" y="85953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난이도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0" y="8595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라이선스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188720"/>
            <a:ext cx="8641080" cy="480060"/>
          </a:xfrm>
          <a:prstGeom prst="rect">
            <a:avLst/>
          </a:prstGeom>
          <a:solidFill>
            <a:srgbClr val="F0FD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188720"/>
            <a:ext cx="36576" cy="4800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" y="1225296"/>
            <a:ext cx="146304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HuggingFace PEFT 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47088" y="1225296"/>
            <a:ext cx="11430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🇫🇷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63240" y="1225296"/>
            <a:ext cx="269748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널리 쓰이는 표준 라이브러리. TRL·Transformers 완벽 통합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33872" y="1225296"/>
            <a:ext cx="150876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LoRA, QLoRA, DoRA, Prefix, IA³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415784" y="1316736"/>
            <a:ext cx="768096" cy="201168"/>
          </a:xfrm>
          <a:prstGeom prst="roundRect">
            <a:avLst>
              <a:gd name="adj" fmla="val 27273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15784" y="1316736"/>
            <a:ext cx="768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중급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247888" y="1316736"/>
            <a:ext cx="566928" cy="201168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 w="12700">
            <a:solidFill>
              <a:srgbClr val="0F6E56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47888" y="1316736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A2.0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56032" y="1687068"/>
            <a:ext cx="864108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" y="1723644"/>
            <a:ext cx="146304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LLaMA-Factory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47088" y="1723644"/>
            <a:ext cx="11430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· 중국 🇨🇳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063240" y="1723644"/>
            <a:ext cx="269748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WebUI 포함, 코드 없이 파인튜닝. GitHub 40k+ ★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33872" y="1723644"/>
            <a:ext cx="150876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LoRA, QLoRA, Full, DPO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415784" y="1815084"/>
            <a:ext cx="768096" cy="201168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 w="12700">
            <a:solidFill>
              <a:srgbClr val="0F6E56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15784" y="1815084"/>
            <a:ext cx="768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초급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247888" y="1815084"/>
            <a:ext cx="566928" cy="201168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 w="12700">
            <a:solidFill>
              <a:srgbClr val="0F6E56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47888" y="1815084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56032" y="2185416"/>
            <a:ext cx="8641080" cy="4800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" y="2221992"/>
            <a:ext cx="146304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Unsloth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847088" y="2221992"/>
            <a:ext cx="11430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· 호주 🇦🇺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063240" y="2221992"/>
            <a:ext cx="269748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속도 2~5배 ↑, 메모리 80% ↓. 최근 가장 핫한 도구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33872" y="2221992"/>
            <a:ext cx="150876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LoRA, QLoRA (최적화 특화)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415784" y="2313432"/>
            <a:ext cx="768096" cy="201168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 w="12700">
            <a:solidFill>
              <a:srgbClr val="0F6E56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15784" y="2313432"/>
            <a:ext cx="768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초급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247888" y="2313432"/>
            <a:ext cx="566928" cy="201168"/>
          </a:xfrm>
          <a:prstGeom prst="roundRect">
            <a:avLst>
              <a:gd name="adj" fmla="val 27273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47888" y="2313432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AGPL-3.0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56032" y="2683764"/>
            <a:ext cx="864108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" y="2720340"/>
            <a:ext cx="146304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Axolotl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847088" y="2720340"/>
            <a:ext cx="11430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커뮤니티 🌐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063240" y="2720340"/>
            <a:ext cx="269748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설정 파일 기반. 다양한 데이터 형식 지원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33872" y="2720340"/>
            <a:ext cx="150876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LoRA, QLoRA, Full, FSDP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415784" y="2811780"/>
            <a:ext cx="768096" cy="201168"/>
          </a:xfrm>
          <a:prstGeom prst="roundRect">
            <a:avLst>
              <a:gd name="adj" fmla="val 27273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15784" y="2811780"/>
            <a:ext cx="768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중급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8247888" y="2811780"/>
            <a:ext cx="566928" cy="201168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 w="12700">
            <a:solidFill>
              <a:srgbClr val="0F6E56">
                <a:alpha val="6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47888" y="2811780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A2.0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56032" y="3182112"/>
            <a:ext cx="8641080" cy="4800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0896" y="3218688"/>
            <a:ext cx="146304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847088" y="3218688"/>
            <a:ext cx="11430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🇫🇷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063240" y="3218688"/>
            <a:ext cx="269748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RLHF·DPO·PPO 등 정렬(alignment) 학습에 특화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833872" y="3218688"/>
            <a:ext cx="150876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SFT, DPO, PPO, GRPO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15784" y="3310128"/>
            <a:ext cx="768096" cy="201168"/>
          </a:xfrm>
          <a:prstGeom prst="roundRect">
            <a:avLst>
              <a:gd name="adj" fmla="val 27273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15784" y="3310128"/>
            <a:ext cx="768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중급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8247888" y="3310128"/>
            <a:ext cx="566928" cy="201168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 w="12700">
            <a:solidFill>
              <a:srgbClr val="0F6E56">
                <a:alpha val="6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47888" y="3310128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A2.0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56032" y="3680460"/>
            <a:ext cx="864108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0896" y="3717036"/>
            <a:ext cx="146304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DeepSpeed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847088" y="3717036"/>
            <a:ext cx="11430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🇺🇸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063240" y="3717036"/>
            <a:ext cx="269748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대규모 분산 학습. ZeRO 옵티마이저로 메모리 절감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833872" y="3717036"/>
            <a:ext cx="150876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Full, LoRA (분산 특화)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415784" y="3808476"/>
            <a:ext cx="768096" cy="201168"/>
          </a:xfrm>
          <a:prstGeom prst="roundRect">
            <a:avLst>
              <a:gd name="adj" fmla="val 27273"/>
            </a:avLst>
          </a:prstGeom>
          <a:solidFill>
            <a:srgbClr val="FEE2E2"/>
          </a:solidFill>
          <a:ln w="12700">
            <a:solidFill>
              <a:srgbClr val="991B1B">
                <a:alpha val="6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15784" y="3808476"/>
            <a:ext cx="768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고급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8247888" y="3808476"/>
            <a:ext cx="566928" cy="201168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 w="12700">
            <a:solidFill>
              <a:srgbClr val="0F6E56">
                <a:alpha val="6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47888" y="3808476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A2.0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256032" y="4178808"/>
            <a:ext cx="8641080" cy="4800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10896" y="4215384"/>
            <a:ext cx="146304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Torchtune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847088" y="4215384"/>
            <a:ext cx="11430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/ PyTorch 🇺🇸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3063240" y="4215384"/>
            <a:ext cx="269748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공식 파인튜닝 도구. PyTorch 네이티브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833872" y="4215384"/>
            <a:ext cx="150876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LoRA, QLoRA, Full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7415784" y="4306824"/>
            <a:ext cx="768096" cy="201168"/>
          </a:xfrm>
          <a:prstGeom prst="roundRect">
            <a:avLst>
              <a:gd name="adj" fmla="val 27273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15784" y="4306824"/>
            <a:ext cx="768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중급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8247888" y="4306824"/>
            <a:ext cx="566928" cy="201168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 w="12700">
            <a:solidFill>
              <a:srgbClr val="0F6E56">
                <a:alpha val="6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47888" y="4306824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BSD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256032" y="4677156"/>
            <a:ext cx="864108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10896" y="4713732"/>
            <a:ext cx="146304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LitGPT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1847088" y="4713732"/>
            <a:ext cx="11430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AI 🇺🇸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3063240" y="4713732"/>
            <a:ext cx="269748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단순한 코드베이스. 교육·실험에 적합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5833872" y="4713732"/>
            <a:ext cx="150876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LoRA, Full, Adapter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7415784" y="4805172"/>
            <a:ext cx="768096" cy="201168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 w="12700">
            <a:solidFill>
              <a:srgbClr val="0F6E56">
                <a:alpha val="60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415784" y="4805172"/>
            <a:ext cx="768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초급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8247888" y="4805172"/>
            <a:ext cx="566928" cy="201168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 w="12700">
            <a:solidFill>
              <a:srgbClr val="0F6E56">
                <a:alpha val="60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247888" y="4805172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A2.0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256032" y="4882896"/>
            <a:ext cx="8641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입문: LLaMA-Factory (WebUI) 또는 Unsloth (속도) → 숙련 후 PEFT로 커스터마이징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상용 파인튜닝 솔루션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6032" y="5120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돈을 내고 쓰는 관리형 서비스 — 인프라·운영 부담 없이 파인튜닝 가능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8641080" cy="31089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8595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74520" y="8595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운영사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907792" y="8595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586984" y="8595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 모델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214616" y="859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 방식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156448" y="859536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188720"/>
            <a:ext cx="8641080" cy="39776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" y="1225296"/>
            <a:ext cx="15087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Fine-tuning API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92808" y="1225296"/>
            <a:ext cx="960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26080" y="1225296"/>
            <a:ext cx="26060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호출만으로 파인튜닝. GPT-4o mini 지원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05272" y="1225296"/>
            <a:ext cx="1554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mini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232904" y="1225296"/>
            <a:ext cx="8686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토큰당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174736" y="1225296"/>
            <a:ext cx="64008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6032" y="1604772"/>
            <a:ext cx="864108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1641348"/>
            <a:ext cx="15087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892808" y="1641348"/>
            <a:ext cx="960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26080" y="1641348"/>
            <a:ext cx="26060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파인튜닝 + MLOps 완전 통합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05272" y="1641348"/>
            <a:ext cx="1554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Gemini, Llama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32904" y="1641348"/>
            <a:ext cx="8686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시간+인스턴스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174736" y="1641348"/>
            <a:ext cx="64008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6032" y="2020824"/>
            <a:ext cx="8641080" cy="39776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" y="2057400"/>
            <a:ext cx="15087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Studio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92808" y="2057400"/>
            <a:ext cx="960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926080" y="2057400"/>
            <a:ext cx="26060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파인튜닝 GUI. 엔터프라이즈 보안·규정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05272" y="2057400"/>
            <a:ext cx="1554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GPT-4, Llama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232904" y="2057400"/>
            <a:ext cx="8686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컴퓨팅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174736" y="2057400"/>
            <a:ext cx="64008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6032" y="2436876"/>
            <a:ext cx="864108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" y="2473452"/>
            <a:ext cx="15087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SageMaker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892808" y="2473452"/>
            <a:ext cx="960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926080" y="2473452"/>
            <a:ext cx="26060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JumpStart 원클릭 파인튜닝. 대규모 자동화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05272" y="2473452"/>
            <a:ext cx="1554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Llama, Mistral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232904" y="2473452"/>
            <a:ext cx="8686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인스턴스 시간당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174736" y="2473452"/>
            <a:ext cx="64008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56032" y="2852928"/>
            <a:ext cx="8641080" cy="397764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6032" y="2852928"/>
            <a:ext cx="36576" cy="3977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" y="2889504"/>
            <a:ext cx="15087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Predibase ★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892808" y="2889504"/>
            <a:ext cx="960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Predibase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926080" y="2889504"/>
            <a:ext cx="26060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전문 플랫폼. LoRAX로 단일 서버에 수백 어댑터 서빙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605272" y="2889504"/>
            <a:ext cx="1554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오픈소스 LLM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232904" y="2889504"/>
            <a:ext cx="8686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월정액 + 사용량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174736" y="2889504"/>
            <a:ext cx="64008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56032" y="3268980"/>
            <a:ext cx="864108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0896" y="3305556"/>
            <a:ext cx="15087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AI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892808" y="3305556"/>
            <a:ext cx="960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AI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926080" y="3305556"/>
            <a:ext cx="26060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모델 파인튜닝 API. 개발자 친화적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605272" y="3305556"/>
            <a:ext cx="1554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Llama, Mistral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232904" y="3305556"/>
            <a:ext cx="8686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토큰당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174736" y="3305556"/>
            <a:ext cx="64008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56032" y="3685032"/>
            <a:ext cx="8641080" cy="39776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0896" y="3721608"/>
            <a:ext cx="15087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RunPod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892808" y="3721608"/>
            <a:ext cx="960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RunPod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926080" y="3721608"/>
            <a:ext cx="26060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대여 + 파인튜닝 템플릿. 저렴한 비용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605272" y="3721608"/>
            <a:ext cx="1554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오픈소스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232904" y="3721608"/>
            <a:ext cx="8686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시간당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$0.2~2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174736" y="3721608"/>
            <a:ext cx="64008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256032" y="4101084"/>
            <a:ext cx="864108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0896" y="4137660"/>
            <a:ext cx="15087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Biases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1892808" y="4137660"/>
            <a:ext cx="960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W&amp;B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2926080" y="4137660"/>
            <a:ext cx="26060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 모니터링·실험 관리 특화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605272" y="4137660"/>
            <a:ext cx="1554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프레임워크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232904" y="4137660"/>
            <a:ext cx="8686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프리미엄 월정액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8174736" y="4137660"/>
            <a:ext cx="64008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256032" y="4517136"/>
            <a:ext cx="8641080" cy="39776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10896" y="4553712"/>
            <a:ext cx="15087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Upstage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1892808" y="4553712"/>
            <a:ext cx="960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업스테이지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2926080" y="4553712"/>
            <a:ext cx="26060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모델 기반. 한국어 파인튜닝 특화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605272" y="4553712"/>
            <a:ext cx="1554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Pro/Mini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232904" y="4553712"/>
            <a:ext cx="8686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엔터프라이즈 협의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8174736" y="4553712"/>
            <a:ext cx="64008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🇰🇷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256032" y="4933188"/>
            <a:ext cx="864108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10896" y="4969764"/>
            <a:ext cx="15087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뤼튼 (wrtn)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1892808" y="4969764"/>
            <a:ext cx="960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뤼튼테크놀로지스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2926080" y="4969764"/>
            <a:ext cx="26060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최적화. B2B 커스텀 모델 제공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5605272" y="4969764"/>
            <a:ext cx="1554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모델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7232904" y="4969764"/>
            <a:ext cx="8686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엔터프라이즈 협의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8174736" y="4969764"/>
            <a:ext cx="64008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🇰🇷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256032" y="4882896"/>
            <a:ext cx="8641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Predibase LoRAX: 하나의 기반 모델에 수백 개 LoRA 어댑터를 동시에 붙여 서비스 — 비용 혁신적으로 절감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상황별 선택 가이드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70248" cy="1316736"/>
          </a:xfrm>
          <a:prstGeom prst="rect">
            <a:avLst/>
          </a:prstGeom>
          <a:solidFill>
            <a:srgbClr val="1E1840"/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4270248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914400" cy="237744"/>
          </a:xfrm>
          <a:prstGeom prst="roundRect">
            <a:avLst>
              <a:gd name="adj" fmla="val 26923"/>
            </a:avLst>
          </a:prstGeom>
          <a:solidFill>
            <a:srgbClr val="A78BFA">
              <a:alpha val="25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 시도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53312" y="91440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파인튜닝이 처음이다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22529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LLaMA-Factory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55448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WebUI 제공, 코드 불필요, 설치도 간단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27448" y="804672"/>
            <a:ext cx="4270248" cy="1316736"/>
          </a:xfrm>
          <a:prstGeom prst="rect">
            <a:avLst/>
          </a:prstGeom>
          <a:solidFill>
            <a:srgbClr val="0F2922"/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27448" y="804672"/>
            <a:ext cx="4270248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18888" y="914400"/>
            <a:ext cx="914400" cy="237744"/>
          </a:xfrm>
          <a:prstGeom prst="roundRect">
            <a:avLst>
              <a:gd name="adj" fmla="val 26923"/>
            </a:avLst>
          </a:prstGeom>
          <a:solidFill>
            <a:srgbClr val="34D399">
              <a:alpha val="25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9144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속도·효율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06440" y="91440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메모리가 부족하거나 빠른 학습 원함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18888" y="122529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Unsloth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18888" y="155448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 2~5배, 메모리 80% 절감, 무료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212848"/>
            <a:ext cx="4270248" cy="1316736"/>
          </a:xfrm>
          <a:prstGeom prst="rect">
            <a:avLst/>
          </a:prstGeom>
          <a:solidFill>
            <a:srgbClr val="0B1F36"/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12848"/>
            <a:ext cx="4270248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322576"/>
            <a:ext cx="914400" cy="237744"/>
          </a:xfrm>
          <a:prstGeom prst="roundRect">
            <a:avLst>
              <a:gd name="adj" fmla="val 26923"/>
            </a:avLst>
          </a:prstGeom>
          <a:solidFill>
            <a:srgbClr val="4FC3F7">
              <a:alpha val="25000"/>
            </a:srgbClr>
          </a:solidFill>
          <a:ln w="12700">
            <a:solidFill>
              <a:srgbClr val="4FC3F7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32257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커스터마이징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53312" y="232257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프로덕션 코드에 통합 필요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63347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HuggingFace PEFT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2962656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업계 표준, 가장 많은 방법론 지원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27448" y="2212848"/>
            <a:ext cx="4270248" cy="1316736"/>
          </a:xfrm>
          <a:prstGeom prst="rect">
            <a:avLst/>
          </a:prstGeom>
          <a:solidFill>
            <a:srgbClr val="2D1B0E"/>
          </a:solidFill>
          <a:ln w="1270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27448" y="2212848"/>
            <a:ext cx="4270248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18888" y="2322576"/>
            <a:ext cx="914400" cy="237744"/>
          </a:xfrm>
          <a:prstGeom prst="roundRect">
            <a:avLst>
              <a:gd name="adj" fmla="val 26923"/>
            </a:avLst>
          </a:prstGeom>
          <a:solidFill>
            <a:srgbClr val="FB923C">
              <a:alpha val="25000"/>
            </a:srgbClr>
          </a:solidFill>
          <a:ln w="12700">
            <a:solidFill>
              <a:srgbClr val="FB923C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232257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관리형 서비스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06440" y="232257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인프라 관리 없이 빠른 시작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18888" y="263347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Together AI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AI Studio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18888" y="2962656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API만으로 학습·배포, 엔터프라이즈 지원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621024"/>
            <a:ext cx="4270248" cy="1316736"/>
          </a:xfrm>
          <a:prstGeom prst="rect">
            <a:avLst/>
          </a:prstGeom>
          <a:solidFill>
            <a:srgbClr val="2D1030"/>
          </a:solidFill>
          <a:ln w="12700">
            <a:solidFill>
              <a:srgbClr val="F472B6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621024"/>
            <a:ext cx="4270248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730752"/>
            <a:ext cx="914400" cy="237744"/>
          </a:xfrm>
          <a:prstGeom prst="roundRect">
            <a:avLst>
              <a:gd name="adj" fmla="val 26923"/>
            </a:avLst>
          </a:prstGeom>
          <a:solidFill>
            <a:srgbClr val="F472B6">
              <a:alpha val="25000"/>
            </a:srgbClr>
          </a:solidFill>
          <a:ln w="12700">
            <a:solidFill>
              <a:srgbClr val="F472B6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73075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대량 운영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353312" y="373075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고객사별 어댑터 동시 서비스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404164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Predibase (LoRAX)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5760" y="437083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서버로 수백 어댑터 서빙, 비용 절감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27448" y="3621024"/>
            <a:ext cx="4270248" cy="1316736"/>
          </a:xfrm>
          <a:prstGeom prst="rect">
            <a:avLst/>
          </a:prstGeom>
          <a:solidFill>
            <a:srgbClr val="0B1F36"/>
          </a:solidFill>
          <a:ln w="12700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27448" y="3621024"/>
            <a:ext cx="4270248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18888" y="3730752"/>
            <a:ext cx="914400" cy="237744"/>
          </a:xfrm>
          <a:prstGeom prst="roundRect">
            <a:avLst>
              <a:gd name="adj" fmla="val 26923"/>
            </a:avLst>
          </a:prstGeom>
          <a:solidFill>
            <a:srgbClr val="60A5FA">
              <a:alpha val="25000"/>
            </a:srgbClr>
          </a:solidFill>
          <a:ln w="12700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18888" y="373075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특화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06440" y="373075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규정·한국어 품질 중요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18888" y="404164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Upstage Solar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818888" y="437083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최적화 모델, 국내 서비스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74320" y="4983480"/>
            <a:ext cx="8595360" cy="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제조암묵지기반AI모델개발사업 실무 추천:  Unsloth + PEFT 로 학습  →  vLLM으로 배포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LoRA &amp; 파인튜닝 도구 완전 정리</dc:title>
  <dc:subject>PptxGenJS Presentation</dc:subject>
  <dc:creator>PptxGenJS</dc:creator>
  <cp:lastModifiedBy>PptxGenJS</cp:lastModifiedBy>
  <cp:revision>1</cp:revision>
  <dcterms:created xsi:type="dcterms:W3CDTF">2026-05-15T02:24:58Z</dcterms:created>
  <dcterms:modified xsi:type="dcterms:W3CDTF">2026-05-15T02:24:58Z</dcterms:modified>
</cp:coreProperties>
</file>