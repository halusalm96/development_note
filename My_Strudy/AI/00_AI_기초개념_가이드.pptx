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2B3990">
              <a:alpha val="40000"/>
            </a:srgbClr>
          </a:solidFill>
          <a:ln w="12700">
            <a:solidFill>
              <a:srgbClr val="2B399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2B3990">
              <a:alpha val="30000"/>
            </a:srgbClr>
          </a:solidFill>
          <a:ln w="12700">
            <a:solidFill>
              <a:srgbClr val="2B399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FUNDAMENTALS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기초 개념 가이드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— Core Concepts for IT Professionals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137160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474720"/>
            <a:ext cx="1371600" cy="347472"/>
          </a:xfrm>
          <a:prstGeom prst="roundRect">
            <a:avLst>
              <a:gd name="adj" fmla="val 26316"/>
            </a:avLst>
          </a:prstGeom>
          <a:solidFill>
            <a:srgbClr val="2B3990">
              <a:alpha val="60000"/>
            </a:srgbClr>
          </a:solidFill>
          <a:ln w="12700">
            <a:solidFill>
              <a:srgbClr val="4FC3F7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4747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머신러닝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94560" y="3474720"/>
            <a:ext cx="1371600" cy="347472"/>
          </a:xfrm>
          <a:prstGeom prst="roundRect">
            <a:avLst>
              <a:gd name="adj" fmla="val 26316"/>
            </a:avLst>
          </a:prstGeom>
          <a:solidFill>
            <a:srgbClr val="2B3990">
              <a:alpha val="60000"/>
            </a:srgbClr>
          </a:solidFill>
          <a:ln w="12700">
            <a:solidFill>
              <a:srgbClr val="4FC3F7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34747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딥러닝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49040" y="3474720"/>
            <a:ext cx="1371600" cy="347472"/>
          </a:xfrm>
          <a:prstGeom prst="roundRect">
            <a:avLst>
              <a:gd name="adj" fmla="val 26316"/>
            </a:avLst>
          </a:prstGeom>
          <a:solidFill>
            <a:srgbClr val="2B3990">
              <a:alpha val="60000"/>
            </a:srgbClr>
          </a:solidFill>
          <a:ln w="12700">
            <a:solidFill>
              <a:srgbClr val="4FC3F7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34747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0" y="3474720"/>
            <a:ext cx="1371600" cy="347472"/>
          </a:xfrm>
          <a:prstGeom prst="roundRect">
            <a:avLst>
              <a:gd name="adj" fmla="val 26316"/>
            </a:avLst>
          </a:prstGeom>
          <a:solidFill>
            <a:srgbClr val="2B3990">
              <a:alpha val="60000"/>
            </a:srgbClr>
          </a:solidFill>
          <a:ln w="12700">
            <a:solidFill>
              <a:srgbClr val="4FC3F7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34747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0" y="3474720"/>
            <a:ext cx="1371600" cy="347472"/>
          </a:xfrm>
          <a:prstGeom prst="roundRect">
            <a:avLst>
              <a:gd name="adj" fmla="val 26316"/>
            </a:avLst>
          </a:prstGeom>
          <a:solidFill>
            <a:srgbClr val="2B3990">
              <a:alpha val="60000"/>
            </a:srgbClr>
          </a:solidFill>
          <a:ln w="12700">
            <a:solidFill>
              <a:srgbClr val="4FC3F7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34747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11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" y="47548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AI란 무엇인가?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8686800" cy="658368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인공지능(AI)이란 인간의 학습·추론·인식 등 지적 능력을 컴퓨터로 구현하는 기술의 총칭입니다.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1920240"/>
            <a:ext cx="8686800" cy="2651760"/>
          </a:xfrm>
          <a:prstGeom prst="rect">
            <a:avLst/>
          </a:prstGeom>
          <a:solidFill>
            <a:srgbClr val="EEF2FF"/>
          </a:solidFill>
          <a:ln w="12700">
            <a:solidFill>
              <a:srgbClr val="2B39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9659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—  Artificial Intelligence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304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인간 지능을 모방하는 모든 기법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697480"/>
            <a:ext cx="8229600" cy="1600200"/>
          </a:xfrm>
          <a:prstGeom prst="rect">
            <a:avLst/>
          </a:prstGeom>
          <a:solidFill>
            <a:srgbClr val="DBEAFE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432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 —  Machine Learning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072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데이터를 통해 스스로 패턴을 학습하는 알고리즘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3474720"/>
            <a:ext cx="7863840" cy="65836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474720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 —  Deep Learning  ·  인공 신경망 기반의 머신러닝 (다층 레이어 구조)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0392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11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" y="47548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학습 방식 3종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788920" cy="3657600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97280"/>
            <a:ext cx="2788920" cy="5669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155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지도학습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773936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2E7D32">
              <a:alpha val="20000"/>
            </a:srgbClr>
          </a:solidFill>
          <a:ln w="12700">
            <a:solidFill>
              <a:srgbClr val="2E7D32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7739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널리 쓰임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148840"/>
            <a:ext cx="2514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레이블(정답)이 있는 데이터로 학습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분류(Classification) &amp; 회귀(Regression)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스팸 필터, 이미지 분류, 가격 예측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54680" y="1097280"/>
            <a:ext cx="2788920" cy="36576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1097280"/>
            <a:ext cx="2788920" cy="56692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1155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비지도학습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46120" y="13898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1773936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E65100">
              <a:alpha val="20000"/>
            </a:srgbClr>
          </a:solidFill>
          <a:ln w="12700">
            <a:solidFill>
              <a:srgbClr val="E65100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7739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패턴 발견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91840" y="2148840"/>
            <a:ext cx="2514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레이블 없는 데이터에서 패턴 발견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군집화(Clustering) &amp; 차원 축소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세분화, 이상 탐지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0" y="1097280"/>
            <a:ext cx="2788920" cy="3657600"/>
          </a:xfrm>
          <a:prstGeom prst="rect">
            <a:avLst/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1097280"/>
            <a:ext cx="2788920" cy="56692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1155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강화학습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72200" y="13898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72200" y="1773936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6A1B9A">
              <a:alpha val="20000"/>
            </a:srgbClr>
          </a:solidFill>
          <a:ln w="12700">
            <a:solidFill>
              <a:srgbClr val="6A1B9A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17739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시퀀셜 의사결정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17920" y="2148840"/>
            <a:ext cx="2514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에이전트가 환경과 상호작용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보상(Reward) 극대화 전략 학습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AI, 로봇 제어, 자율주행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0392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11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" y="47548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핵심 알고리즘 &amp; 모델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1115568"/>
            <a:ext cx="4160520" cy="37490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15568"/>
            <a:ext cx="4160520" cy="457200"/>
          </a:xfrm>
          <a:prstGeom prst="rect">
            <a:avLst/>
          </a:prstGeom>
          <a:solidFill>
            <a:srgbClr val="2B3990"/>
          </a:solidFill>
          <a:ln w="12700">
            <a:solidFill>
              <a:srgbClr val="2B39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1556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전통적 머신러닝 알고리즘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719072"/>
            <a:ext cx="3977640" cy="402336"/>
          </a:xfrm>
          <a:prstGeom prst="rect">
            <a:avLst/>
          </a:prstGeom>
          <a:solidFill>
            <a:srgbClr val="DBE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373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3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 / 로지스틱 회귀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/ Logistic Regression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3977640" cy="402336"/>
          </a:xfrm>
          <a:prstGeom prst="rect">
            <a:avLst/>
          </a:prstGeom>
          <a:solidFill>
            <a:srgbClr val="DBE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402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3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의사결정 트리 / 랜덤 포레스트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4231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/ Random Forest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724912"/>
            <a:ext cx="3977640" cy="402336"/>
          </a:xfrm>
          <a:prstGeom prst="rect">
            <a:avLst/>
          </a:prstGeom>
          <a:solidFill>
            <a:srgbClr val="DBE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7432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3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서포트 벡터 머신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29260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— Support Vector Machine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227832"/>
            <a:ext cx="3977640" cy="402336"/>
          </a:xfrm>
          <a:prstGeom prst="rect">
            <a:avLst/>
          </a:prstGeom>
          <a:solidFill>
            <a:srgbClr val="DBE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2461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3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K-평균 군집화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42900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730752"/>
            <a:ext cx="3977640" cy="402336"/>
          </a:xfrm>
          <a:prstGeom prst="rect">
            <a:avLst/>
          </a:prstGeom>
          <a:solidFill>
            <a:srgbClr val="DBE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7490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3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나이브 베이즈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39319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4233672"/>
            <a:ext cx="3977640" cy="402336"/>
          </a:xfrm>
          <a:prstGeom prst="rect">
            <a:avLst/>
          </a:prstGeom>
          <a:solidFill>
            <a:srgbClr val="DBEA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2519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3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/ XGBoost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44348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앙상블 기반 부스팅 모델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17720" y="1115568"/>
            <a:ext cx="4297680" cy="3749040"/>
          </a:xfrm>
          <a:prstGeom prst="rect">
            <a:avLst/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1115568"/>
            <a:ext cx="4297680" cy="45720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11155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딥러닝 아키텍처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09160" y="1719072"/>
            <a:ext cx="4114800" cy="402336"/>
          </a:xfrm>
          <a:prstGeom prst="rect">
            <a:avLst/>
          </a:prstGeom>
          <a:solidFill>
            <a:srgbClr val="EDE7F6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17373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00600" y="1920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합성곱 신경망 — 이미지·영상 처리에 특화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2221992"/>
            <a:ext cx="4114800" cy="402336"/>
          </a:xfrm>
          <a:prstGeom prst="rect">
            <a:avLst/>
          </a:prstGeom>
          <a:solidFill>
            <a:srgbClr val="EDE7F6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2402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/ LSTM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00600" y="24231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순환 신경망 — 시계열·순차 데이터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2724912"/>
            <a:ext cx="4114800" cy="402336"/>
          </a:xfrm>
          <a:prstGeom prst="rect">
            <a:avLst/>
          </a:prstGeom>
          <a:solidFill>
            <a:srgbClr val="EDE7F6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27432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00600" y="29260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어텐션 기반 — NLP·멀티모달의 근간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09160" y="3227832"/>
            <a:ext cx="4114800" cy="402336"/>
          </a:xfrm>
          <a:prstGeom prst="rect">
            <a:avLst/>
          </a:prstGeom>
          <a:solidFill>
            <a:srgbClr val="EDE7F6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2461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00600" y="34290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생성적 적대 신경망 — 이미지 생성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3730752"/>
            <a:ext cx="4114800" cy="402336"/>
          </a:xfrm>
          <a:prstGeom prst="rect">
            <a:avLst/>
          </a:prstGeom>
          <a:solidFill>
            <a:srgbClr val="EDE7F6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37490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Model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00600" y="39319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노이즈 제거 기반 이미지·영상 생성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09160" y="4233672"/>
            <a:ext cx="4114800" cy="402336"/>
          </a:xfrm>
          <a:prstGeom prst="rect">
            <a:avLst/>
          </a:prstGeom>
          <a:solidFill>
            <a:srgbClr val="EDE7F6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42519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800600" y="44348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변분 오토인코더 — 잠재 공간 학습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50392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생성형 AI &amp; LLM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458200" cy="594360"/>
          </a:xfrm>
          <a:prstGeom prst="rect">
            <a:avLst/>
          </a:prstGeom>
          <a:solidFill>
            <a:srgbClr val="2B3990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430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(Large Language Model) — 수십~수천억 개의 파라미터로 학습된 대규모 언어 생성 모델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9019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처리 흐름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1508760" cy="685800"/>
          </a:xfrm>
          <a:prstGeom prst="rect">
            <a:avLst/>
          </a:prstGeom>
          <a:solidFill>
            <a:srgbClr val="2B3990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0428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텍스트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633472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Input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65960" y="2628900"/>
            <a:ext cx="201168" cy="0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67128" y="2286000"/>
            <a:ext cx="1508760" cy="685800"/>
          </a:xfrm>
          <a:prstGeom prst="rect">
            <a:avLst/>
          </a:prstGeom>
          <a:solidFill>
            <a:srgbClr val="2B3990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67128" y="230428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토크나이징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67128" y="2633472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75888" y="2628900"/>
            <a:ext cx="201168" cy="0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7056" y="2286000"/>
            <a:ext cx="1508760" cy="685800"/>
          </a:xfrm>
          <a:prstGeom prst="rect">
            <a:avLst/>
          </a:prstGeom>
          <a:solidFill>
            <a:srgbClr val="2B3990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77056" y="230428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77056" y="2633472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85816" y="2628900"/>
            <a:ext cx="201168" cy="0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86984" y="2286000"/>
            <a:ext cx="1508760" cy="6858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86984" y="230428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어텐션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86984" y="2633472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095744" y="2628900"/>
            <a:ext cx="201168" cy="0"/>
          </a:xfrm>
          <a:prstGeom prst="line">
            <a:avLst/>
          </a:prstGeom>
          <a:noFill/>
          <a:ln w="19050">
            <a:solidFill>
              <a:srgbClr val="4FC3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96912" y="2286000"/>
            <a:ext cx="1508760" cy="685800"/>
          </a:xfrm>
          <a:prstGeom prst="rect">
            <a:avLst/>
          </a:prstGeom>
          <a:solidFill>
            <a:srgbClr val="2B3990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96912" y="230428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생성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96912" y="2633472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31546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모델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520440"/>
            <a:ext cx="1965960" cy="77724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5478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GPT-4o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39136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06040" y="3520440"/>
            <a:ext cx="1965960" cy="77724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97480" y="35478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3.7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697480" y="39136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520440"/>
            <a:ext cx="196596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5478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 2.0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846320" y="39136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903720" y="3520440"/>
            <a:ext cx="1965960" cy="777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95160" y="35478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LLaMA 3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95160" y="39136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(오픈소스)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50392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11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" y="47548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주요 기술 영역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1115568"/>
            <a:ext cx="2788920" cy="178308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15568"/>
            <a:ext cx="278892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33856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35331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처리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591056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분류 &amp; 감성 분석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기계 번역 (MT)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질의응답 &amp; 요약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챗봇 &amp; 대화 시스템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72968" y="1115568"/>
            <a:ext cx="2788920" cy="178308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72968" y="1115568"/>
            <a:ext cx="278892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133856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Computer Vision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64408" y="135331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컴퓨터 비전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64408" y="1591056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분류 &amp; 객체 탐지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세그멘테이션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얼굴 인식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자율주행 시각 시스템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17336" y="1115568"/>
            <a:ext cx="2788920" cy="1783080"/>
          </a:xfrm>
          <a:prstGeom prst="rect">
            <a:avLst/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17336" y="1115568"/>
            <a:ext cx="2788920" cy="4114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08776" y="1133856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Speech AI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08776" y="135331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 인식·합성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08776" y="1591056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— 음성→텍스트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— 텍스트→음성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화자 인식·분리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 어시스턴트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3035808"/>
            <a:ext cx="2788920" cy="17830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CC0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3035808"/>
            <a:ext cx="2788920" cy="4114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054096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327355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시스템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" y="3511296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협업 필터링 (CF)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 기반 필터링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딥러닝 임베딩 방식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넷플릭스·커머스 적용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72968" y="3035808"/>
            <a:ext cx="2788920" cy="1783080"/>
          </a:xfrm>
          <a:prstGeom prst="rect">
            <a:avLst/>
          </a:prstGeom>
          <a:solidFill>
            <a:srgbClr val="FFEBEE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72968" y="3035808"/>
            <a:ext cx="2788920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64408" y="3054096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Anomaly Detection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64408" y="327355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탐지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64408" y="3511296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사기 거래 탐지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 불량 검출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로그 이상 감지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보안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17336" y="3035808"/>
            <a:ext cx="2788920" cy="1783080"/>
          </a:xfrm>
          <a:prstGeom prst="rect">
            <a:avLst/>
          </a:prstGeom>
          <a:solidFill>
            <a:srgbClr val="E0F2F1"/>
          </a:solidFill>
          <a:ln w="12700">
            <a:solidFill>
              <a:srgbClr val="80CB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17336" y="3035808"/>
            <a:ext cx="2788920" cy="41148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08776" y="3054096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Generative AI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08776" y="327355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생성형 AI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08776" y="3511296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텍스트·코드 생성 (LLM)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생성 (Diffusion)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영상·음악 합성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멀티모달 AI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50392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핵심 평가 지표 &amp; 주요 용어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2011680" cy="1078992"/>
          </a:xfrm>
          <a:prstGeom prst="rect">
            <a:avLst/>
          </a:prstGeom>
          <a:solidFill>
            <a:srgbClr val="2B3990"/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43000"/>
            <a:ext cx="20116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527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74650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예측 중 맞은 비율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04872" y="1143000"/>
            <a:ext cx="2011680" cy="1078992"/>
          </a:xfrm>
          <a:prstGeom prst="rect">
            <a:avLst/>
          </a:prstGeom>
          <a:solidFill>
            <a:srgbClr val="2B3990"/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04872" y="1143000"/>
            <a:ext cx="20116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96312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96312" y="1527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정밀도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96312" y="174650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양성 예측 중 실제 양성 비율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81144" y="1143000"/>
            <a:ext cx="2011680" cy="1078992"/>
          </a:xfrm>
          <a:prstGeom prst="rect">
            <a:avLst/>
          </a:prstGeom>
          <a:solidFill>
            <a:srgbClr val="2B3990"/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81144" y="1143000"/>
            <a:ext cx="20116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72584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72584" y="1527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재현율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72584" y="174650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양성 중 탐지 비율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57416" y="1143000"/>
            <a:ext cx="2011680" cy="1078992"/>
          </a:xfrm>
          <a:prstGeom prst="rect">
            <a:avLst/>
          </a:prstGeom>
          <a:solidFill>
            <a:srgbClr val="2B3990"/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57416" y="1143000"/>
            <a:ext cx="20116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48856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 Score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48856" y="1527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점수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48856" y="174650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&amp; Recall 조화 평균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2377440"/>
            <a:ext cx="2011680" cy="1078992"/>
          </a:xfrm>
          <a:prstGeom prst="rect">
            <a:avLst/>
          </a:prstGeom>
          <a:solidFill>
            <a:srgbClr val="2B3990"/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2377440"/>
            <a:ext cx="20116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AUC-ROC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0040" y="2761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 성능 곡선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" y="298094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임계값 변화에 따른 성능 면적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04872" y="2377440"/>
            <a:ext cx="2011680" cy="1078992"/>
          </a:xfrm>
          <a:prstGeom prst="rect">
            <a:avLst/>
          </a:prstGeom>
          <a:solidFill>
            <a:srgbClr val="2B3990"/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04872" y="2377440"/>
            <a:ext cx="20116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96312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Overfitting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496312" y="2761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과적합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496312" y="298094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훈련 데이터에만 최적화된 상태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81144" y="2377440"/>
            <a:ext cx="2011680" cy="1078992"/>
          </a:xfrm>
          <a:prstGeom prst="rect">
            <a:avLst/>
          </a:prstGeom>
          <a:solidFill>
            <a:srgbClr val="2B3990"/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81144" y="2377440"/>
            <a:ext cx="20116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72584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Fine-tuning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672584" y="2761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미세조정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72584" y="298094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사전학습 모델을 특정 태스크에 재학습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757416" y="2377440"/>
            <a:ext cx="2011680" cy="1078992"/>
          </a:xfrm>
          <a:prstGeom prst="rect">
            <a:avLst/>
          </a:prstGeom>
          <a:solidFill>
            <a:srgbClr val="2B3990"/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57416" y="2377440"/>
            <a:ext cx="20116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48856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848856" y="2761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증강 생성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48856" y="298094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지식 검색 후 LLM 응답 생성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28600" y="4572000"/>
            <a:ext cx="8686800" cy="384048"/>
          </a:xfrm>
          <a:prstGeom prst="rect">
            <a:avLst/>
          </a:prstGeom>
          <a:solidFill>
            <a:srgbClr val="2B3990"/>
          </a:solidFill>
          <a:ln w="12700">
            <a:solidFill>
              <a:srgbClr val="2B399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459028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·  ML  ·  DL  ·  NLP  ·  CV  ·  Generative AI  ·  LLM  ·  Transformer  ·  RAG  ·  Fine-tuning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50392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기초 개념 가이드</dc:title>
  <dc:subject>PptxGenJS Presentation</dc:subject>
  <dc:creator>PptxGenJS</dc:creator>
  <cp:lastModifiedBy>PptxGenJS</cp:lastModifiedBy>
  <cp:revision>1</cp:revision>
  <dcterms:created xsi:type="dcterms:W3CDTF">2026-05-15T01:14:59Z</dcterms:created>
  <dcterms:modified xsi:type="dcterms:W3CDTF">2026-05-15T01:14:59Z</dcterms:modified>
</cp:coreProperties>
</file>