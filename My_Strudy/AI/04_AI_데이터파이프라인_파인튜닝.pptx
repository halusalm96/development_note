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파인튜닝을 위한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데이터 파이프라인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학습보다 데이터가 결과의 70~80%를 결정한다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8229600" cy="548640"/>
          </a:xfrm>
          <a:prstGeom prst="rect">
            <a:avLst/>
          </a:prstGeom>
          <a:solidFill>
            <a:srgbClr val="1E18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54864" cy="5486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743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Garbage In, Garbage Out — 쓰레기 데이터 → 쓰레기 모델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920240" cy="512064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4FC3F7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747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7단계 파이프라인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474720"/>
            <a:ext cx="1920240" cy="512064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4747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공수·난이도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474720"/>
            <a:ext cx="1920240" cy="512064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4747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도구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3474720"/>
            <a:ext cx="1920240" cy="512064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4747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인사이트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데이터 파이프라인 — 7단계 전체 흐름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" y="5120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공수의 60~80%가 1~4단계 데이터 처리에 집중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407408" cy="658368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10058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96926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5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원시 데이터 수집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1234440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Collection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" y="138988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PDF·동영상·로그·인터뷰·매뉴얼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664208"/>
            <a:ext cx="4407408" cy="658368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" y="17556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" y="171907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정제·클렌징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" y="198424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" y="213969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노이즈·중복 제거, 전문용어 통일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2414016"/>
            <a:ext cx="4407408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" y="25054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2505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" y="24688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포맷 변환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" y="2734056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Conversion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" y="288950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/ output 쌍으로 변환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36592" y="2414016"/>
            <a:ext cx="4407408" cy="658368"/>
          </a:xfrm>
          <a:prstGeom prst="rect">
            <a:avLst/>
          </a:prstGeom>
          <a:solidFill>
            <a:srgbClr val="FCEBEB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25054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505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57216" y="24688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품질 검증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57216" y="2734056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Validation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57216" y="288950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검수·일관성·독성 필터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36592" y="1664208"/>
            <a:ext cx="4407408" cy="658368"/>
          </a:xfrm>
          <a:prstGeom prst="rect">
            <a:avLst/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9744" y="17556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57216" y="171907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데이터셋 구성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57216" y="198424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57216" y="213969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80% / Val 10% / Test 10%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36592" y="914400"/>
            <a:ext cx="4407408" cy="658368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9744" y="10058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9744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57216" y="96926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토크나이징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57216" y="1234440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57216" y="138988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→ 토큰 ID 변환·패딩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96312" y="3163824"/>
            <a:ext cx="4151376" cy="658368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9464" y="32552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9464" y="32552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916936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D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학습 실행 (LoRA)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916936" y="3483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Training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16936" y="36393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/ Unsloth / Axolotl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81728" y="1243584"/>
            <a:ext cx="54864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0560" y="117043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5FA5"/>
                </a:solidFill>
              </a:rPr>
              <a:t>→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480560" y="19202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54F0B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480560" y="267004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5FA5"/>
                </a:solidFill>
              </a:rPr>
              <a:t>→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480560" y="17190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6E56"/>
                </a:solidFill>
              </a:rPr>
              <a:t>←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142232" y="30175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6D11"/>
                </a:solidFill>
              </a:rPr>
              <a:t>↓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256032" y="3986784"/>
            <a:ext cx="864108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6032" y="3931920"/>
            <a:ext cx="6400800" cy="585216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39502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파이프라인 단계 (1~6단계) — 전체 공수 60~80%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656832" y="3931920"/>
            <a:ext cx="2240280" cy="585216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93408" y="3950208"/>
            <a:ext cx="2167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(20~40%)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단계별 공수·난이도·자동화 가능성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" y="5120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데이터 파이프라인이 병목인가 — 2·3·4단계가 핵심 난관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864108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5953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859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93392" y="859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작업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0" y="859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제조암묵지 사업 예시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19088" y="8595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269480" y="85953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010144" y="8595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1188720"/>
            <a:ext cx="8641080" cy="5349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225296"/>
            <a:ext cx="2377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5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1225296"/>
            <a:ext cx="13716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원시 데이터 수집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1225296"/>
            <a:ext cx="21488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PDF·동영상·로그·인터뷰 녹음·매뉴얼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24528" y="1225296"/>
            <a:ext cx="21488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명장 작업 영상, 설비 센서 로그, 구두 설명 녹음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37376" y="1316736"/>
            <a:ext cx="786384" cy="256032"/>
          </a:xfrm>
          <a:prstGeom prst="roundRect">
            <a:avLst>
              <a:gd name="adj" fmla="val 21429"/>
            </a:avLst>
          </a:prstGeom>
          <a:solidFill>
            <a:srgbClr val="FAEEDA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13167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287768" y="1316736"/>
            <a:ext cx="676656" cy="256032"/>
          </a:xfrm>
          <a:prstGeom prst="roundRect">
            <a:avLst>
              <a:gd name="adj" fmla="val 21429"/>
            </a:avLst>
          </a:prstGeom>
          <a:solidFill>
            <a:srgbClr val="FAEEDA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87768" y="1316736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028432" y="1316736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FCEBEB"/>
          </a:solidFill>
          <a:ln w="12700">
            <a:solidFill>
              <a:srgbClr val="A32D2D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28432" y="131673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어려움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" y="1741932"/>
            <a:ext cx="8641080" cy="534924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1778508"/>
            <a:ext cx="2377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1778508"/>
            <a:ext cx="13716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정제·클렌징 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1778508"/>
            <a:ext cx="21488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노이즈·중복 제거, 오탈자·불완전 문장 필터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24528" y="1778508"/>
            <a:ext cx="21488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음성→텍스트 변환 후 오류 수정, 전문 용어 통일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37376" y="1869948"/>
            <a:ext cx="786384" cy="256032"/>
          </a:xfrm>
          <a:prstGeom prst="roundRect">
            <a:avLst>
              <a:gd name="adj" fmla="val 21429"/>
            </a:avLst>
          </a:prstGeom>
          <a:solidFill>
            <a:srgbClr val="FCEBEB"/>
          </a:solidFill>
          <a:ln w="12700">
            <a:solidFill>
              <a:srgbClr val="A32D2D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7376" y="1869948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높음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287768" y="1869948"/>
            <a:ext cx="676656" cy="256032"/>
          </a:xfrm>
          <a:prstGeom prst="roundRect">
            <a:avLst>
              <a:gd name="adj" fmla="val 21429"/>
            </a:avLst>
          </a:prstGeom>
          <a:solidFill>
            <a:srgbClr val="FCEBEB"/>
          </a:solidFill>
          <a:ln w="12700">
            <a:solidFill>
              <a:srgbClr val="A32D2D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87768" y="1869948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028432" y="1869948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FAEEDA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28432" y="186994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가능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56032" y="2295144"/>
            <a:ext cx="8641080" cy="5349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2331720"/>
            <a:ext cx="2377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" y="2331720"/>
            <a:ext cx="13716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포맷 변환 ★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11680" y="2331720"/>
            <a:ext cx="21488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형식으로 변환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{"instruction":…,"output":…}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24528" y="2331720"/>
            <a:ext cx="21488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스패터 원인 질문 → 명장 답변 Q&amp;A 쌍으로 구성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37376" y="2423160"/>
            <a:ext cx="786384" cy="256032"/>
          </a:xfrm>
          <a:prstGeom prst="roundRect">
            <a:avLst>
              <a:gd name="adj" fmla="val 21429"/>
            </a:avLst>
          </a:prstGeom>
          <a:solidFill>
            <a:srgbClr val="FCEBEB"/>
          </a:solidFill>
          <a:ln w="12700">
            <a:solidFill>
              <a:srgbClr val="A32D2D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37376" y="2423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높음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287768" y="2423160"/>
            <a:ext cx="676656" cy="256032"/>
          </a:xfrm>
          <a:prstGeom prst="roundRect">
            <a:avLst>
              <a:gd name="adj" fmla="val 21429"/>
            </a:avLst>
          </a:prstGeom>
          <a:solidFill>
            <a:srgbClr val="FCEBEB"/>
          </a:solidFill>
          <a:ln w="12700">
            <a:solidFill>
              <a:srgbClr val="A32D2D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87768" y="2423160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028432" y="2423160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FAEEDA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28432" y="2423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반자동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56032" y="2848356"/>
            <a:ext cx="8641080" cy="534924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" y="2884932"/>
            <a:ext cx="2377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6928" y="2884932"/>
            <a:ext cx="13716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검증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011680" y="2884932"/>
            <a:ext cx="21488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검수, 독성 콘텐츠 필터, 일관성 체크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224528" y="2884932"/>
            <a:ext cx="21488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명장이 직접 답변 정확도 검토·수정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37376" y="2976372"/>
            <a:ext cx="786384" cy="256032"/>
          </a:xfrm>
          <a:prstGeom prst="roundRect">
            <a:avLst>
              <a:gd name="adj" fmla="val 21429"/>
            </a:avLst>
          </a:prstGeom>
          <a:solidFill>
            <a:srgbClr val="FCEBEB"/>
          </a:solidFill>
          <a:ln w="12700">
            <a:solidFill>
              <a:srgbClr val="A32D2D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37376" y="29763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높음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287768" y="2976372"/>
            <a:ext cx="676656" cy="256032"/>
          </a:xfrm>
          <a:prstGeom prst="roundRect">
            <a:avLst>
              <a:gd name="adj" fmla="val 21429"/>
            </a:avLst>
          </a:prstGeom>
          <a:solidFill>
            <a:srgbClr val="FCEBEB"/>
          </a:solidFill>
          <a:ln w="12700">
            <a:solidFill>
              <a:srgbClr val="A32D2D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87768" y="2976372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028432" y="2976372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FCEBEB"/>
          </a:solidFill>
          <a:ln w="12700">
            <a:solidFill>
              <a:srgbClr val="A32D2D">
                <a:alpha val="6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28432" y="2976372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어려움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56032" y="3401568"/>
            <a:ext cx="8641080" cy="5349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2608" y="3438144"/>
            <a:ext cx="2377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66928" y="3438144"/>
            <a:ext cx="13716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구성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011680" y="3438144"/>
            <a:ext cx="21488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Train(80%) / Val(10%) / Test(10%) 분리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224528" y="3438144"/>
            <a:ext cx="21488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분야별·공정별 균형 있게 분배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437376" y="3529584"/>
            <a:ext cx="786384" cy="256032"/>
          </a:xfrm>
          <a:prstGeom prst="roundRect">
            <a:avLst>
              <a:gd name="adj" fmla="val 21429"/>
            </a:avLst>
          </a:prstGeom>
          <a:solidFill>
            <a:srgbClr val="E1F5EE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37376" y="3529584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287768" y="3529584"/>
            <a:ext cx="676656" cy="256032"/>
          </a:xfrm>
          <a:prstGeom prst="roundRect">
            <a:avLst>
              <a:gd name="adj" fmla="val 21429"/>
            </a:avLst>
          </a:prstGeom>
          <a:solidFill>
            <a:srgbClr val="E1F5EE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87768" y="3529584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028432" y="3529584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E1F5EE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28432" y="352958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자동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56032" y="3954780"/>
            <a:ext cx="8641080" cy="5349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2608" y="3991356"/>
            <a:ext cx="2377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66928" y="3991356"/>
            <a:ext cx="13716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토크나이징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011680" y="3991356"/>
            <a:ext cx="21488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텍스트→토큰 ID 변환, 패딩·마스킹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224528" y="3991356"/>
            <a:ext cx="21488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모델별 토크나이저 적용 (LLaMA, Mistral 등)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437376" y="4082796"/>
            <a:ext cx="786384" cy="256032"/>
          </a:xfrm>
          <a:prstGeom prst="roundRect">
            <a:avLst>
              <a:gd name="adj" fmla="val 21429"/>
            </a:avLst>
          </a:prstGeom>
          <a:solidFill>
            <a:srgbClr val="E1F5EE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37376" y="408279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287768" y="4082796"/>
            <a:ext cx="676656" cy="256032"/>
          </a:xfrm>
          <a:prstGeom prst="roundRect">
            <a:avLst>
              <a:gd name="adj" fmla="val 21429"/>
            </a:avLst>
          </a:prstGeom>
          <a:solidFill>
            <a:srgbClr val="E1F5EE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287768" y="4082796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028432" y="4082796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E1F5EE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28432" y="408279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자동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56032" y="4507992"/>
            <a:ext cx="8641080" cy="5349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92608" y="4544568"/>
            <a:ext cx="2377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6D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566928" y="4544568"/>
            <a:ext cx="13716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실행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2011680" y="4544568"/>
            <a:ext cx="21488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LoRA/QLoRA 학습, Loss 모니터링, 체크포인트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224528" y="4544568"/>
            <a:ext cx="21488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+ PEFT → W&amp;B 모니터링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437376" y="4636008"/>
            <a:ext cx="786384" cy="256032"/>
          </a:xfrm>
          <a:prstGeom prst="roundRect">
            <a:avLst>
              <a:gd name="adj" fmla="val 21429"/>
            </a:avLst>
          </a:prstGeom>
          <a:solidFill>
            <a:srgbClr val="FAEEDA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37376" y="4636008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287768" y="4636008"/>
            <a:ext cx="676656" cy="256032"/>
          </a:xfrm>
          <a:prstGeom prst="roundRect">
            <a:avLst>
              <a:gd name="adj" fmla="val 21429"/>
            </a:avLst>
          </a:prstGeom>
          <a:solidFill>
            <a:srgbClr val="FAEEDA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287768" y="4636008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8028432" y="4636008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E1F5EE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028432" y="463600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자동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2·3단계가 전체 프로젝트 병목 — 사업A에서 '데이터 디지털화'를 별도 항목으로 명시한 이유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단계별 도구 — 오픈소스 vs 상용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" y="5120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단계마다 적합한 도구가 다르다 — 조합이 핵심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8641080" cy="310896"/>
          </a:xfrm>
          <a:prstGeom prst="rect">
            <a:avLst/>
          </a:prstGeom>
          <a:solidFill>
            <a:srgbClr val="04342C"/>
          </a:solidFill>
          <a:ln w="12700">
            <a:solidFill>
              <a:srgbClr val="04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412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54480" y="841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도구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65192" y="841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 도구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87184" y="8412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특이사항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8641080" cy="5257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1207008"/>
            <a:ext cx="11704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수집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72768" y="1207008"/>
            <a:ext cx="33375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Scrapy, Crawl4AI, yt-dlp (영상)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(음성→텍스트)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83480" y="1207008"/>
            <a:ext cx="2148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Apify, Diffbot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Transcribe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05472" y="1207008"/>
            <a:ext cx="16276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음성·영상이면 STT 먼저 필요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1714500"/>
            <a:ext cx="8641080" cy="52578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1751076"/>
            <a:ext cx="11704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정제 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72768" y="1751076"/>
            <a:ext cx="33375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spaCy, LangDetect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fastText (언어 필터)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83480" y="1751076"/>
            <a:ext cx="2148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AI, Appen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05472" y="1751076"/>
            <a:ext cx="16276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용어 사전 별도 구축 필요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258568"/>
            <a:ext cx="8641080" cy="5257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295144"/>
            <a:ext cx="11704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포맷 변환 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72768" y="2295144"/>
            <a:ext cx="33375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LLaMA-Factory DataHelper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포맷 변환기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GPT-4로 Q&amp;A 자동 생성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2295144"/>
            <a:ext cx="2148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AI Generative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Snorkel 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05472" y="2295144"/>
            <a:ext cx="16276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GPT-4로 합성 데이터 생성이 최근 표준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2802636"/>
            <a:ext cx="86410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2839212"/>
            <a:ext cx="11704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품질 검증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72768" y="2839212"/>
            <a:ext cx="33375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Argilla (라벨링 UI)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Studio, Cleanlab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83480" y="2839212"/>
            <a:ext cx="2148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AI RLHF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AI, Toloka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05472" y="2839212"/>
            <a:ext cx="16276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전문가 검수 필수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한계 있음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346704"/>
            <a:ext cx="8641080" cy="5257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3383280"/>
            <a:ext cx="11704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데이터셋 구성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72768" y="3383280"/>
            <a:ext cx="33375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Datasets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train_test_split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3480" y="3383280"/>
            <a:ext cx="2148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05472" y="3383280"/>
            <a:ext cx="16276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몇 줄로 완료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특별한 도구 불필요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6032" y="3890772"/>
            <a:ext cx="86410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" y="3927348"/>
            <a:ext cx="11704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토크나이징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72768" y="3927348"/>
            <a:ext cx="33375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Tokenizers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SentencePiece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83480" y="3927348"/>
            <a:ext cx="2148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05472" y="3927348"/>
            <a:ext cx="16276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모델마다 다른 토크나이저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필요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6032" y="4434840"/>
            <a:ext cx="8641080" cy="5257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" y="4471416"/>
            <a:ext cx="11704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학습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572768" y="4471416"/>
            <a:ext cx="33375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Unsloth, PEFT, Axolotl, TRL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W&amp;B (학습 모니터링)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83480" y="4471416"/>
            <a:ext cx="2148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Studio, Predibase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05472" y="4471416"/>
            <a:ext cx="162763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비용이 여기서 발생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 vs 온프레미스 선택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GPT-4·Claude를 이용한 합성 데이터 생성이 최근 표준화 — 소량 원본으로 대량 학습 데이터 확장 가능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인사이트 &amp; 사업 A 적용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70248" cy="1426464"/>
          </a:xfrm>
          <a:prstGeom prst="rect">
            <a:avLst/>
          </a:prstGeom>
          <a:solidFill>
            <a:srgbClr val="0B1F36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270248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932688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데이터가 70%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" y="1335024"/>
            <a:ext cx="40142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프로젝트라면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5개월 = 데이터 파이프라인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1개월 = 학습·배포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27448" y="804672"/>
            <a:ext cx="4270248" cy="1426464"/>
          </a:xfrm>
          <a:prstGeom prst="rect">
            <a:avLst/>
          </a:prstGeom>
          <a:solidFill>
            <a:srgbClr val="0F2922"/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27448" y="804672"/>
            <a:ext cx="4270248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5464" y="932688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GPT-4로 데이터 확장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55464" y="1335024"/>
            <a:ext cx="40142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소량 고품질 원본 데이터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GPT-4·Claude로 합성 Q&amp;A 대량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10~100배 확장 가능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4270248" cy="1426464"/>
          </a:xfrm>
          <a:prstGeom prst="rect">
            <a:avLst/>
          </a:prstGeom>
          <a:solidFill>
            <a:srgbClr val="2D1B0E"/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395728"/>
            <a:ext cx="4270248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523744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전문가 검수 불가 생략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" y="2926080"/>
            <a:ext cx="40142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2·3·4단계는 자동화 한계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 명장이 직접 검토해야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품질이 보장됨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27448" y="2395728"/>
            <a:ext cx="4270248" cy="1426464"/>
          </a:xfrm>
          <a:prstGeom prst="rect">
            <a:avLst/>
          </a:prstGeom>
          <a:solidFill>
            <a:srgbClr val="1E1840"/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27448" y="2395728"/>
            <a:ext cx="4270248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2523744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 형식이 핵심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55464" y="2926080"/>
            <a:ext cx="40142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{"instruction": "스패터 원인?",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"output": "전류 과다, 와이어 길이..."}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쌍을 잘 만드는 게 전부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005072"/>
            <a:ext cx="8595360" cy="877824"/>
          </a:xfrm>
          <a:prstGeom prst="rect">
            <a:avLst/>
          </a:prstGeom>
          <a:solidFill>
            <a:srgbClr val="0F2922"/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4023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A 제조암묵지 — 실무 데이터 파이프라인 추천 흐름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15968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0F6E56">
              <a:alpha val="40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159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명장 인터뷰 녹음·영상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737360" y="437083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315968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0F6E56">
              <a:alpha val="40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43159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 변환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154680" y="437083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4315968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0F6E56">
              <a:alpha val="40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43159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오류 수정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0" y="437083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</a:rPr>
              <a:t>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4315968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0F6E56">
              <a:alpha val="40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43159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GPT-4로 Q&amp;A 확장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89320" y="437083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</a:rPr>
              <a:t>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4315968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0F6E56">
              <a:alpha val="40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43159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명장 최종 검수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406640" y="437083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</a:rPr>
              <a:t>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43800" y="4315968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0F6E56">
              <a:alpha val="40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43159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LLaMA-Factory 학습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파인튜닝을 위한 AI 데이터 파이프라인</dc:title>
  <dc:subject>PptxGenJS Presentation</dc:subject>
  <dc:creator>PptxGenJS</dc:creator>
  <cp:lastModifiedBy>PptxGenJS</cp:lastModifiedBy>
  <cp:revision>1</cp:revision>
  <dcterms:created xsi:type="dcterms:W3CDTF">2026-05-15T02:32:38Z</dcterms:created>
  <dcterms:modified xsi:type="dcterms:W3CDTF">2026-05-15T02:32:38Z</dcterms:modified>
</cp:coreProperties>
</file>