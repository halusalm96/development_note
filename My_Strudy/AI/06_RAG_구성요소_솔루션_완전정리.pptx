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16"/>
    <p:sldId id="266" r:id="rId17"/>
    <p:sldId id="264" r:id="rId15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구성요소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완전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4942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· 임베딩 · 프레임워크 · 문서처리 · 품질검증 — 제조국·제조사·연도·오픈소스 여부 포함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2852928"/>
            <a:ext cx="1627632" cy="749808"/>
          </a:xfrm>
          <a:prstGeom prst="rect">
            <a:avLst/>
          </a:prstGeom>
          <a:solidFill>
            <a:srgbClr val="0B1F36"/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852928"/>
            <a:ext cx="1627632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2852928"/>
            <a:ext cx="1627632" cy="749808"/>
          </a:xfrm>
          <a:prstGeom prst="rect">
            <a:avLst/>
          </a:prstGeom>
          <a:solidFill>
            <a:srgbClr val="0F2922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2852928"/>
            <a:ext cx="1627632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66544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모델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30752" y="2852928"/>
            <a:ext cx="1627632" cy="749808"/>
          </a:xfrm>
          <a:prstGeom prst="rect">
            <a:avLst/>
          </a:prstGeom>
          <a:solidFill>
            <a:srgbClr val="1E1840"/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2852928"/>
            <a:ext cx="1627632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03904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프레임워크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68112" y="2852928"/>
            <a:ext cx="1627632" cy="749808"/>
          </a:xfrm>
          <a:prstGeom prst="rect">
            <a:avLst/>
          </a:prstGeom>
          <a:solidFill>
            <a:srgbClr val="2D1B0E"/>
          </a:solidFill>
          <a:ln w="12700">
            <a:solidFill>
              <a:srgbClr val="EF9F27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2852928"/>
            <a:ext cx="1627632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41264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처리·청킹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05472" y="2852928"/>
            <a:ext cx="1627632" cy="749808"/>
          </a:xfrm>
          <a:prstGeom prst="rect">
            <a:avLst/>
          </a:prstGeom>
          <a:solidFill>
            <a:srgbClr val="2D0F0F"/>
          </a:solidFill>
          <a:ln w="1270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05472" y="2852928"/>
            <a:ext cx="1627632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78624" y="29260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78624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검증·평가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767328"/>
            <a:ext cx="8641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785616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5가지 구성요소의 조합이 RAG 시스템의 품질을 결정한다 — 임베딩 모델과 청킹 전략이 특히 중요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5대 구성요소 — 전체 흐름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5120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질문 → 임베딩 → 벡터DB 검색 → 문서 청크 조합 → LLM → 응답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77824"/>
            <a:ext cx="4370832" cy="877824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77824"/>
            <a:ext cx="4370832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8755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87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9875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벡터 데이터베이스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1261872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저장·검색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48132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Qdrant · Pinecone · Milvus · pgvector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1847088"/>
            <a:ext cx="4370832" cy="877824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847088"/>
            <a:ext cx="4370832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9568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195681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임베딩 모델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2231136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→ 벡터 변환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" y="245059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OpenAI · Solar · Jina · E5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2816352"/>
            <a:ext cx="4370832" cy="877824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" y="2816352"/>
            <a:ext cx="4370832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292608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9260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292608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프레임워크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3200400"/>
            <a:ext cx="3895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파이프라인 오케스트레이션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3419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Haystack · Dify · RAGFlow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36592" y="877824"/>
            <a:ext cx="4160520" cy="877824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877824"/>
            <a:ext cx="416052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8032" y="98755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9875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98755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문서 처리·청킹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38928" y="1261872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PDF·Word·표 파싱 및 분할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8032" y="1481328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· LlamaParse · Docling · PyMuPDF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1847088"/>
            <a:ext cx="4160520" cy="877824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36592" y="1847088"/>
            <a:ext cx="4160520" cy="54864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28032" y="195681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195681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38928" y="195681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품질 검증·평가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38928" y="2231136"/>
            <a:ext cx="3685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정확도·답변 품질 측정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2450592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· DeepEval · TruLens · LangSmith · Arize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36592" y="2816352"/>
            <a:ext cx="4160520" cy="877824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8529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입문 추천 조합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0" y="316382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프로토타입:  Chroma + BGE-m3 + LangChain + PyMuPDF + RAGAS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343814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프로덕션:  Qdrant + Solar Embedding + LlamaIndex + Unstructured + RAGAS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⓪ 올인원 RAG 플랫폼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5대 구성요소를 하나로 통합한 플랫폼 — 코드 없이 바로 문서 챗봇·RAG·에이전트 구축 가능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329184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786384"/>
            <a:ext cx="54864" cy="32918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8394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앞 표에서 빠졌나?  —  벡터DB·임베딩·프레임워크·문서처리를 모두 내장해 어느 한 카테고리에 넣기 애매한 "메타 레이어" 솔루션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8641080" cy="27432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09928" y="12070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16936" y="120700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19272" y="12070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39896" y="1207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7550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08192" y="12070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구성요소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79792" y="1207008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499616"/>
            <a:ext cx="8641080" cy="406908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" y="1499616"/>
            <a:ext cx="36576" cy="4069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1536192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AnythingLLM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28216" y="1536192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Mintplex Labs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35224" y="1536192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1536192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58184" y="1536192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데스크톱·Docker·클라우드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93792" y="1609344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160934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1536192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내장(LanceDB+9종)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임베딩·문서처리·Agent·MCP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498080" y="1536192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LLM · 멀티유저 · 코드 불필요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· 완전 로컬 가능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1924812"/>
            <a:ext cx="8641080" cy="40690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032" y="1924812"/>
            <a:ext cx="36576" cy="4069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1961388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28216" y="1961388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LangGenius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935224" y="1961388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1961388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58184" y="1961388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웹앱·Docker·클라우드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93792" y="203454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203454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상용(무료)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26480" y="1961388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워크플로우 빌더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벡터DB·임베딩·Agent RAG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98080" y="1961388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워크플로우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게이트웨이 · 상용 클라우드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6032" y="2350008"/>
            <a:ext cx="8641080" cy="4069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2386584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RAGFlow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728216" y="2386584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InfiniFlow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935224" y="2386584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37560" y="2386584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758184" y="2386584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Docker·클라우드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93792" y="2459736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93792" y="245973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126480" y="2386584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딥파싱 엔진(표·이미지)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그래프 RAG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98080" y="2386584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 문서 딥파싱 특화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표·수식·차트 이해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775204"/>
            <a:ext cx="8641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" y="2811780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PrivateGPT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728216" y="2811780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Zylon AI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35224" y="2811780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🇪🇸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337560" y="2811780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758184" y="2811780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서버·로컬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193792" y="2884932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2884932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26480" y="2811780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내장 · 임베딩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문서처리 · 완전 오프라인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498080" y="2811780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오프라인 · 프라이버시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서버 제공 · 기업용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3200400"/>
            <a:ext cx="8641080" cy="4069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" y="3236976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728216" y="3236976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커뮤니티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935224" y="3236976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337560" y="3236976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758184" y="3236976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웹앱·Docker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193792" y="3310128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3310128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126480" y="3236976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 내장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 생태계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498080" y="3236976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기반 ChatGPT UI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풍부한 플러그인 · ChatGPT UX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56032" y="3625596"/>
            <a:ext cx="8641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1752" y="3662172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728216" y="3662172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Studio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935224" y="3662172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337560" y="3662172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758184" y="3662172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193792" y="3735324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193792" y="3735324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상용(무료)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126480" y="3662172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모델 실행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호환 API · 기본 RAG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498080" y="3662172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LLM 실행 특화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모델 다운로드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56032" y="4050792"/>
            <a:ext cx="8641080" cy="4069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1752" y="4087368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LibreChat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728216" y="4087368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danny-avila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2935224" y="4087368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3337560" y="4087368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3758184" y="4087368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웹앱·Docker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193792" y="4160520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93792" y="4160520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126480" y="4087368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AI 공급자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498080" y="4087368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ChatGPT·Claude·Gemini 동시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멀티유저 · 오픈소스 대체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56032" y="4475988"/>
            <a:ext cx="8641080" cy="4069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1752" y="4512564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728216" y="4512564"/>
            <a:ext cx="1143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Jan.ai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2935224" y="4512564"/>
            <a:ext cx="347472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🇸🇬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337560" y="4512564"/>
            <a:ext cx="365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3758184" y="4512564"/>
            <a:ext cx="1371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데스크톱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193792" y="4585716"/>
            <a:ext cx="877824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93792" y="4585716"/>
            <a:ext cx="8778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126480" y="4512564"/>
            <a:ext cx="131673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모델 · 기본 RAG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플러그인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7498080" y="4512564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오프라인 · 가볍고 빠름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AnythingLLM보다 단순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추천: 코드 없이 즉시 → AnythingLLM(로컬) 또는 Dify(팀) · 개발팀 있으면 LangChain+Qdrant 직접 구축이 더 유연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벡터 데이터베이스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임베딩(숫자 벡터)을 저장하고 가장 유사한 벡터를 빠르게 찾아주는 특수 데이터베이스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44752" y="804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8046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27248" y="8046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47872" y="804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8046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41848" y="80467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70648" y="804672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용도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097280"/>
            <a:ext cx="864108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3385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3040" y="113385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15768" y="1133856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45536" y="113385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66160" y="11887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1887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453128" y="113385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0136" y="113385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완전관리형 서서리스 · 50ms↓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88936" y="1188720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88936" y="118872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1490472"/>
            <a:ext cx="8641080" cy="37490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1490472"/>
            <a:ext cx="36576" cy="37490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152704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 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63040" y="15270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15768" y="152704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🇳🇱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45536" y="152704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66160" y="15819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15819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453128" y="1527048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벡터+하이브리드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0136" y="1527048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BM25+벡터 · GraphQL · 멀티모달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88936" y="1581912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88936" y="1581912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56032" y="1883664"/>
            <a:ext cx="8641080" cy="374904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6032" y="1883664"/>
            <a:ext cx="36576" cy="37490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" y="192024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★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463040" y="192024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15768" y="1920240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🇩🇪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145536" y="192024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566160" y="19751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19751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453128" y="192024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벡터+하이브리드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60136" y="1920240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고성능 · 메모리 효율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88936" y="1975104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88936" y="197510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비용효율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6032" y="2276856"/>
            <a:ext cx="86410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" y="231343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463040" y="23134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Zilliz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15768" y="2313432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145536" y="231343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66160" y="236829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66160" y="236829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453128" y="231343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벡터+하이브리드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660136" y="2313432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수십억 벡터 · 분산 클러스터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88936" y="2368296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88936" y="236829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초대규모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2670048"/>
            <a:ext cx="864108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70662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463040" y="27066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AI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2715768" y="2706624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145536" y="270662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566160" y="276148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566160" y="27614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453128" y="270662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660136" y="270662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API · 로컬 우선 · 간편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488936" y="2761488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88936" y="276148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6032" y="3063240"/>
            <a:ext cx="86410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3099816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1463040" y="309981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715768" y="3099816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145536" y="3099816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566160" y="315468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566160" y="31546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453128" y="309981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벡터(라이브러리)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660136" y="3099816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라이브러리 · GPU 지원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488936" y="3154680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88936" y="3154680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리서치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56032" y="3456432"/>
            <a:ext cx="864108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1752" y="3493008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463040" y="34930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커뮤니티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2715768" y="349300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145536" y="3493008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566160" y="354787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66160" y="35478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453128" y="3493008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벡터+SQL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660136" y="3493008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확장 · RDB 통합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488936" y="3547872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88936" y="3547872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스택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56032" y="3849624"/>
            <a:ext cx="86410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1752" y="3886200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Vector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463040" y="388620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2715768" y="3886200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3145536" y="3886200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566160" y="394106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566160" y="3941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453128" y="388620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벡터+인메모리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5660136" y="3886200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인메모리 초고속 · Redis 통합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7488936" y="3941064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488936" y="394106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저지연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56032" y="4242816"/>
            <a:ext cx="8641080" cy="3749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01752" y="4279392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OpenSearch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1463040" y="427939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2715768" y="4279392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3145536" y="4279392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3566160" y="433425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566160" y="433425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4453128" y="427939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벡터+전문검색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5660136" y="4279392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포크 · AWS 통합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7488936" y="4334256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88936" y="433425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스택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256032" y="4636008"/>
            <a:ext cx="864108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01752" y="4672584"/>
            <a:ext cx="1097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Zilliz Cloud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1463040" y="467258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Zilliz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715768" y="4672584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3145536" y="4672584"/>
            <a:ext cx="365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3566160" y="472744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566160" y="47274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122" name="Text 120"/>
          <p:cNvSpPr/>
          <p:nvPr/>
        </p:nvSpPr>
        <p:spPr>
          <a:xfrm>
            <a:off x="4453128" y="467258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벡터+하이브리드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5660136" y="4672584"/>
            <a:ext cx="17647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관리형 · 10배 성능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488936" y="4727448"/>
            <a:ext cx="1353312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88936" y="472744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관리형</a:t>
            </a:r>
            <a:endParaRPr lang="en-US" sz="750" dirty="0"/>
          </a:p>
        </p:txBody>
      </p:sp>
      <p:sp>
        <p:nvSpPr>
          <p:cNvPr id="126" name="Text 124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입문: Chroma → 프로덕션: Qdrant·Weaviate → 초대규모: Milvus·Pinecone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임베딩 모델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텍스트를 고차원 숫자 벡터로 변환 — RAG 검색 품질의 40~60%를 결정하는 핵심 요소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04342C"/>
          </a:solidFill>
          <a:ln w="12700">
            <a:solidFill>
              <a:srgbClr val="043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21408" y="804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74136" y="8046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03904" y="8046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24528" y="804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11496" y="8046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차원수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9864" y="804672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07224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097280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33856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text-embedding-3-large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139696" y="113385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92424" y="1133856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22192" y="1133856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42816" y="1207008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207008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상용API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129784" y="1133856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3,072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88152" y="1133856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널리 사용 · MTEB 최상위권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525512" y="1207008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5512" y="1207008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56032" y="1513332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1549908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text-embedding-004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39696" y="1549908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92424" y="1549908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22192" y="1549908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42816" y="1623060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42816" y="1623060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상용API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129784" y="1549908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88152" y="1549908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통합 · 다국어 강점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525512" y="1623060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25512" y="1623060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양호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56032" y="1929384"/>
            <a:ext cx="8641080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6032" y="1929384"/>
            <a:ext cx="36576" cy="3977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1965960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BAAI/bge-m3 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39696" y="1965960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 (베이징AI연구원)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92424" y="1965960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22192" y="1965960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42816" y="2039112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42816" y="2039112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129784" y="1965960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788152" y="1965960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밀집+희소+멀티벡터 · 100개 언어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525512" y="2039112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25512" y="2039112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56032" y="2345436"/>
            <a:ext cx="8641080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" y="2345436"/>
            <a:ext cx="36576" cy="3977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1752" y="2382012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39696" y="238201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 AI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392424" y="2382012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822192" y="2382012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42816" y="2455164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42816" y="2455164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129784" y="2382012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788152" y="2382012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컨텍스트 8192 토큰 · 완전 오픈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525512" y="2455164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2455164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6032" y="2761488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2798064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E5-mistral-7b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139696" y="2798064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3392424" y="2798064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822192" y="2798064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242816" y="2871216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242816" y="2871216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129784" y="2798064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788152" y="2798064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 고정확도 · 무거운 편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7525512" y="2871216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25512" y="2871216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56032" y="3177540"/>
            <a:ext cx="864108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3214116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voyage-3-large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139696" y="3214116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392424" y="3214116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3822192" y="3214116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4242816" y="3287268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242816" y="3287268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상용API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129784" y="3214116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5788152" y="3214116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코드·도메인 특화 · Anthropic 투자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525512" y="3287268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1EFE8"/>
          </a:solidFill>
          <a:ln w="12700">
            <a:solidFill>
              <a:srgbClr val="5F5E5A">
                <a:alpha val="60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25512" y="3287268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56032" y="3593592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01752" y="3630168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jina-embeddings-v3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139696" y="3630168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AI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3392424" y="3630168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🇩🇪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3822192" y="3630168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242816" y="3703320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42816" y="3703320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5129784" y="3630168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5788152" y="3630168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89개 언어 · 태스크 어댑터 지원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7525512" y="3703320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25512" y="3703320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양호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56032" y="4009644"/>
            <a:ext cx="8641080" cy="39776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6032" y="4009644"/>
            <a:ext cx="36576" cy="3977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01752" y="4046220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Embedding ★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2139696" y="4046220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업스테이지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392424" y="4046220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🇰🇷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3822192" y="4046220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4242816" y="4119372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42816" y="4119372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상용API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5129784" y="4046220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5788152" y="4046220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최적화 · MTEB 한국어 1위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7525512" y="4119372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525512" y="4119372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최우수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56032" y="4425696"/>
            <a:ext cx="8641080" cy="3977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01752" y="4462272"/>
            <a:ext cx="17830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KoSimCSE / KLUE</a:t>
            </a:r>
            <a:endParaRPr lang="en-US" sz="900" dirty="0"/>
          </a:p>
        </p:txBody>
      </p:sp>
      <p:sp>
        <p:nvSpPr>
          <p:cNvPr id="107" name="Text 105"/>
          <p:cNvSpPr/>
          <p:nvPr/>
        </p:nvSpPr>
        <p:spPr>
          <a:xfrm>
            <a:off x="2139696" y="4462272"/>
            <a:ext cx="1188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연구팀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3392424" y="4462272"/>
            <a:ext cx="384048" cy="3246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🇰🇷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3822192" y="4462272"/>
            <a:ext cx="36576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242816" y="4535424"/>
            <a:ext cx="822960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242816" y="4535424"/>
            <a:ext cx="82296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5129784" y="4462272"/>
            <a:ext cx="60350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788152" y="4462272"/>
            <a:ext cx="168249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특화 · 도메인 파인튜닝 필요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7525512" y="4535424"/>
            <a:ext cx="1316736" cy="173736"/>
          </a:xfrm>
          <a:prstGeom prst="roundRect">
            <a:avLst>
              <a:gd name="adj" fmla="val 26316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525512" y="4535424"/>
            <a:ext cx="1316736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특화</a:t>
            </a:r>
            <a:endParaRPr lang="en-US" sz="750" dirty="0"/>
          </a:p>
        </p:txBody>
      </p:sp>
      <p:sp>
        <p:nvSpPr>
          <p:cNvPr id="116" name="Text 114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한국어 RAG: Solar Embedding(상용) 또는 BGE-m3(무료) · 영어 범용: OpenAI text-embedding-3-large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RAG 프레임워크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수집·임베딩·검색·LLM 생성을 하나의 파이프라인으로 연결하는 오케스트레이션 도구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26215C"/>
          </a:solidFill>
          <a:ln w="12700">
            <a:solidFill>
              <a:srgbClr val="2621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38528" y="8046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91256" y="8046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21024" y="8046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41648" y="804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28616" y="804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32904" y="8046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64424" y="804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용도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1097280"/>
            <a:ext cx="8641080" cy="470916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097280"/>
            <a:ext cx="36576" cy="4709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133856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56816" y="1133856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9544" y="1133856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39312" y="1133856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59936" y="122529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59936" y="122529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46904" y="1133856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사실상 표준 · 가장 많은 통합 · 문서 풍부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51192" y="1225296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51192" y="1225296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982712" y="1225296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122529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56032" y="1586484"/>
            <a:ext cx="8641080" cy="470916"/>
          </a:xfrm>
          <a:prstGeom prst="rect">
            <a:avLst/>
          </a:prstGeom>
          <a:solidFill>
            <a:srgbClr val="F5F0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586484"/>
            <a:ext cx="36576" cy="47091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" y="1623060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56816" y="1623060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9544" y="1623060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39312" y="1623060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59936" y="171450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59936" y="17145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46904" y="1623060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특화 설계 · 인덱싱 최적화 · 엔터프라이즈 문서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51192" y="1714500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51192" y="171450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982712" y="1714500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82712" y="171450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RAG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6032" y="2075688"/>
            <a:ext cx="8641080" cy="4709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211226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Haystack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956816" y="211226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209544" y="2112264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🇩🇪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39312" y="2112264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059936" y="220370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59936" y="2203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946904" y="2112264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구성 유연 · 엔터프라이즈 검색 강점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251192" y="2203704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854F0B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51192" y="2203704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중급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982712" y="2203704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82712" y="220370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특화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" y="2564892"/>
            <a:ext cx="864108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2601468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RAGFlow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956816" y="2601468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InfiniFlow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209544" y="2601468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39312" y="2601468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059936" y="26929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59936" y="26929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946904" y="2601468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딥파싱 기반 · PDF·표·이미지 처리 강점 · WebUI 제공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51192" y="2692908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51192" y="269290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982712" y="2692908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82712" y="2692908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중심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56032" y="3054096"/>
            <a:ext cx="8641080" cy="4709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3090672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956816" y="3090672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LangGenius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209544" y="3090672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🇨🇳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3639312" y="3090672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059936" y="31821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9936" y="31821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946904" y="3090672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RAG · 워크플로우 시각화 · 비개발자 친화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251192" y="3182112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51192" y="3182112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982712" y="3182112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82712" y="318211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비개발자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56032" y="3543300"/>
            <a:ext cx="864108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" y="3579876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956816" y="3579876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 AI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209544" y="3579876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🇸🇬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639312" y="3579876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059936" y="36713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059936" y="36713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946904" y="3579876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드래그앤드롭 파이프라인 · LangChain 기반 GUI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251192" y="3671316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51192" y="3671316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982712" y="3671316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982712" y="3671316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56032" y="4032504"/>
            <a:ext cx="8641080" cy="47091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1752" y="4069080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KB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1956816" y="4069080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209544" y="4069080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3639312" y="4069080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059936" y="416052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059936" y="41605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4946904" y="4069080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완전관리형 RAG · S3·RDS 통합 · 엔터프라이즈 보안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251192" y="4160520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251192" y="4160520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7982712" y="4160520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982712" y="416052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스택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56032" y="4521708"/>
            <a:ext cx="8641080" cy="4709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01752" y="4558284"/>
            <a:ext cx="160020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1956816" y="4558284"/>
            <a:ext cx="118872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209544" y="4558284"/>
            <a:ext cx="384048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3639312" y="4558284"/>
            <a:ext cx="365760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4059936" y="464972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059936" y="464972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4946904" y="4558284"/>
            <a:ext cx="2231136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통합 · 하이브리드 검색 · 엔터프라이즈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251192" y="4649724"/>
            <a:ext cx="676656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251192" y="4649724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초급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7982712" y="4649724"/>
            <a:ext cx="868680" cy="18288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92400E">
                <a:alpha val="60000"/>
              </a:srgbClr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982712" y="4649724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스택</a:t>
            </a:r>
            <a:endParaRPr lang="en-US" sz="750" dirty="0"/>
          </a:p>
        </p:txBody>
      </p:sp>
      <p:sp>
        <p:nvSpPr>
          <p:cNvPr id="112" name="Text 110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개발자: LangChain · LlamaIndex  /  비개발자: Dify · RAGFlow  /  클라우드 관리형: Bedrock · Azure AI Search</a:t>
            </a:r>
            <a:endParaRPr lang="en-US" sz="900" dirty="0"/>
          </a:p>
        </p:txBody>
      </p:sp>
      <p:sp>
        <p:nvSpPr>
          <p:cNvPr id="113" name="Text 11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문서 처리·청킹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PDF·Word·Excel 등 원시 문서를 읽고 AI가 처리 가능한 단위(청크)로 분할 — 청크 품질이 검색 정확도 직결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274320"/>
          </a:xfrm>
          <a:prstGeom prst="rect">
            <a:avLst/>
          </a:prstGeom>
          <a:solidFill>
            <a:srgbClr val="633806"/>
          </a:solidFill>
          <a:ln w="12700">
            <a:solidFill>
              <a:srgbClr val="6338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47088" y="8046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45536" y="80467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75304" y="804672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95928" y="804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82896" y="804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포맷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92824" y="8046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" y="1097280"/>
            <a:ext cx="864108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097280"/>
            <a:ext cx="36576" cy="5486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13385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65376" y="113385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Unstructured.io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63824" y="1133856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93592" y="113385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014216" y="128016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14216" y="12801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01184" y="113385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PDF·Word·Excel·HTML·이미지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11112" y="113385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표·이미지 추출 · OCR 내장 · LangChain 통합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032" y="1664208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170078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LlamaParse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65376" y="170078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163824" y="1700784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93592" y="170078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14216" y="184708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14216" y="184708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901184" y="1700784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PDF·복잡 레이아웃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11112" y="170078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기반 파싱 · 표·수식·차트 이해 · 고품질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231136"/>
            <a:ext cx="8641080" cy="5486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2231136"/>
            <a:ext cx="36576" cy="5486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22677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65376" y="226771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163824" y="2267712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93592" y="2267712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014216" y="241401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14216" y="24140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01184" y="2267712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PDF·Word·PPT·Excel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11112" y="226771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 AI 내장 · 구조 보존 · 무료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2798064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" y="283464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865376" y="28346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Artifex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63824" y="2834640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593592" y="28346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14216" y="298094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14216" y="29809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901184" y="2834640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611112" y="283464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PDF 파싱 · 단순 텍스트 추출 적합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56032" y="3364992"/>
            <a:ext cx="86410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3401568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865376" y="340156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VikParuchuri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63824" y="3401568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3593592" y="34015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014216" y="354787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14216" y="354787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901184" y="3401568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PDF·EPUB·MOBI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11112" y="340156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PDF→Markdown 변환 · 고품질 OCR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56032" y="3931920"/>
            <a:ext cx="8641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01752" y="3968496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TextSplitter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865376" y="396849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163824" y="3968496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593592" y="39684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014216" y="411480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14216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901184" y="3968496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11112" y="396849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Recursive·Semantic 분할 · 가장 많이 사용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56032" y="4498848"/>
            <a:ext cx="864108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01752" y="4535424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Chunkr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865376" y="453542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Chunkr AI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163824" y="4535424"/>
            <a:ext cx="384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593592" y="45354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014216" y="468172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014216" y="468172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901184" y="4535424"/>
            <a:ext cx="1655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PDF·이미지·스캔본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611112" y="453542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비전 모델 기반 청킹 · 의미 단위 분할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제조암묵지 사업: 비정형 PDF·영상 스크립트 → Unstructured + Docling 조합 권장 · 청킹 단위(chunk size)는 직접 튜닝 필요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 품질 검증·평가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파이프라인의 검색 정확도·답변 품질을 정량적으로 측정 — 없으면 개선 방향을 알 수 없다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86384"/>
            <a:ext cx="8641080" cy="347472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8458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3대 핵심 평가 지표:  ① Faithfulness (환각 없음)  ·  ② Answer Relevancy (질문과 관련성)  ·  ③ Context Recall (필요 문서 검색됨)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8641080" cy="274320"/>
          </a:xfrm>
          <a:prstGeom prst="rect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0700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801368" y="12070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제조사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54096" y="12070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83864" y="12070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04488" y="120700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2070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729984" y="12070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" y="1499616"/>
            <a:ext cx="8641080" cy="52578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1499616"/>
            <a:ext cx="36576" cy="52578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536192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★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19656" y="1536192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explodinggradients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072384" y="1536192"/>
            <a:ext cx="3840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02152" y="1536192"/>
            <a:ext cx="365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922776" y="166420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22776" y="166420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809744" y="1536192"/>
            <a:ext cx="188366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· Answer Relevancy · Context Recall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48272" y="1536192"/>
            <a:ext cx="20939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전용 평가 프레임워크 · 업계 표준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6032" y="2043684"/>
            <a:ext cx="86410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080260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19656" y="2080260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72384" y="2080260"/>
            <a:ext cx="3840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02152" y="2080260"/>
            <a:ext cx="365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922776" y="2208276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22776" y="220827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9744" y="2080260"/>
            <a:ext cx="188366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14개 이상 지표 (Hallucination 포함)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48272" y="2080260"/>
            <a:ext cx="20939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테스트 방식 · CI/CD 통합 가능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2587752"/>
            <a:ext cx="86410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" y="2624328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TruLens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19656" y="2624328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TruEra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72384" y="2624328"/>
            <a:ext cx="3840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02152" y="2624328"/>
            <a:ext cx="365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22776" y="2752344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22776" y="275234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9744" y="2624328"/>
            <a:ext cx="188366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Triad (답변·검색·근거)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48272" y="2624328"/>
            <a:ext cx="20939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앱 평가 특화 · 대시보드 시각화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" y="3131820"/>
            <a:ext cx="86410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1752" y="3168396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19656" y="3168396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072384" y="3168396"/>
            <a:ext cx="3840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502152" y="3168396"/>
            <a:ext cx="365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22776" y="3296412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1E40AF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22776" y="32964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09744" y="3168396"/>
            <a:ext cx="188366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추적·디버깅·평가 통합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748272" y="3168396"/>
            <a:ext cx="20939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완벽 통합 · 프로덕션 모니터링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" y="3675888"/>
            <a:ext cx="8641080" cy="5257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1752" y="3712464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819656" y="3712464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AI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072384" y="3712464"/>
            <a:ext cx="3840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502152" y="3712464"/>
            <a:ext cx="365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922776" y="3840480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065F46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22776" y="3840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809744" y="3712464"/>
            <a:ext cx="188366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드리프트 · 검색 품질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48272" y="3712464"/>
            <a:ext cx="20939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시각화 · 프로덕션 RAG 모니터링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56032" y="4219956"/>
            <a:ext cx="8641080" cy="525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" y="4256532"/>
            <a:ext cx="14630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819656" y="4256532"/>
            <a:ext cx="11887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W&amp;B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072384" y="4256532"/>
            <a:ext cx="384048" cy="452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🇺🇸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502152" y="4256532"/>
            <a:ext cx="36576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922776" y="4384548"/>
            <a:ext cx="822960" cy="18288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 w="12700">
            <a:solidFill>
              <a:srgbClr val="4C1D95">
                <a:alpha val="6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22776" y="43845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오픈+상용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809744" y="4256532"/>
            <a:ext cx="188366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 추적·비교·A/B 평가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48272" y="4256532"/>
            <a:ext cx="20939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실험 관리 · 팀 협업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56032" y="4882896"/>
            <a:ext cx="8641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RAGAS로 3대 지표 측정 → LangSmith으로 프로덕션 모니터링이 현재 가장 보편적인 조합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상황별 선택 가이드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68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구성요소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73936" y="7680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프로토타입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39312" y="768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프로덕션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79008" y="768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엔터프라이즈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859536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52144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벡터 DB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92224" y="115214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152144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97296" y="1152144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 / Pinecone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8595360" cy="530352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719072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임베딩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92224" y="171907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(무료)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1719072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Embedding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97296" y="1719072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text-embed-3-large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212848"/>
            <a:ext cx="859536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286000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프레임워크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92224" y="228600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Dify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2286000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97296" y="2286000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/ Azure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779776"/>
            <a:ext cx="8595360" cy="530352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52928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문서 처리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92224" y="2852928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2852928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+ Docling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97296" y="2852928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LlamaParse (고품질)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346704"/>
            <a:ext cx="8595360" cy="530352"/>
          </a:xfrm>
          <a:prstGeom prst="rect">
            <a:avLst/>
          </a:prstGeom>
          <a:solidFill>
            <a:srgbClr val="1A2744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419856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품질 평가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92224" y="3419856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3419856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+ LangSmith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97296" y="3419856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+ Arize Phoenix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913632"/>
            <a:ext cx="8595360" cy="530352"/>
          </a:xfrm>
          <a:prstGeom prst="rect">
            <a:avLst/>
          </a:prstGeom>
          <a:solidFill>
            <a:srgbClr val="141E35"/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986784"/>
            <a:ext cx="1335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(월)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792224" y="398678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무료~수만 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0" y="3986784"/>
            <a:ext cx="20665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수십만~수백만 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97296" y="3986784"/>
            <a:ext cx="2962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수백만 원~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882896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다음: MCP 구성요소 및 솔루션 정리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구성요소 &amp;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완전 정리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249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벡터DB · 임베딩 · 프레임워크 · 문서처리 · 품질검증 — 제조국·제조사·연도·오픈소스 여부 포함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2816352"/>
            <a:ext cx="1664208" cy="877824"/>
          </a:xfrm>
          <a:prstGeom prst="rect">
            <a:avLst/>
          </a:prstGeom>
          <a:solidFill>
            <a:srgbClr val="2D1B0E"/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2816352"/>
            <a:ext cx="166420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88950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⓪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" y="3182112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올인원 플랫폼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" y="34198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AnythingLLM·Dify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2816352"/>
            <a:ext cx="1335024" cy="877824"/>
          </a:xfrm>
          <a:prstGeom prst="rect">
            <a:avLst/>
          </a:prstGeom>
          <a:solidFill>
            <a:srgbClr val="0B1F36"/>
          </a:solidFill>
          <a:ln w="12700">
            <a:solidFill>
              <a:srgbClr val="378ADD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9968" y="2816352"/>
            <a:ext cx="1335024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3182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DB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03120" y="34198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Chroma·Qdrant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56432" y="2816352"/>
            <a:ext cx="1335024" cy="877824"/>
          </a:xfrm>
          <a:prstGeom prst="rect">
            <a:avLst/>
          </a:prstGeom>
          <a:solidFill>
            <a:srgbClr val="0F2922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56432" y="2816352"/>
            <a:ext cx="1335024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9584" y="3182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모델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9584" y="34198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BGE·Solar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82896" y="2816352"/>
            <a:ext cx="1335024" cy="877824"/>
          </a:xfrm>
          <a:prstGeom prst="rect">
            <a:avLst/>
          </a:prstGeom>
          <a:solidFill>
            <a:srgbClr val="1E1840"/>
          </a:solidFill>
          <a:ln w="12700">
            <a:solidFill>
              <a:srgbClr val="7F77DD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2896" y="2816352"/>
            <a:ext cx="1335024" cy="54864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3182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프레임워크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56048" y="34198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LangChain·Dify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09360" y="2816352"/>
            <a:ext cx="1335024" cy="877824"/>
          </a:xfrm>
          <a:prstGeom prst="rect">
            <a:avLst/>
          </a:prstGeom>
          <a:solidFill>
            <a:srgbClr val="2D1B0E"/>
          </a:solidFill>
          <a:ln w="12700">
            <a:solidFill>
              <a:srgbClr val="EF9F27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816352"/>
            <a:ext cx="1335024" cy="54864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82512" y="3182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처리·청킹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82512" y="34198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35824" y="2816352"/>
            <a:ext cx="1335024" cy="877824"/>
          </a:xfrm>
          <a:prstGeom prst="rect">
            <a:avLst/>
          </a:prstGeom>
          <a:solidFill>
            <a:srgbClr val="2D0F0F"/>
          </a:solidFill>
          <a:ln w="12700">
            <a:solidFill>
              <a:srgbClr val="E24B4A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35824" y="2816352"/>
            <a:ext cx="1335024" cy="548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8976" y="2889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808976" y="3182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검증·평가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08976" y="34198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56032" y="3803904"/>
            <a:ext cx="8641080" cy="475488"/>
          </a:xfrm>
          <a:prstGeom prst="rect">
            <a:avLst/>
          </a:prstGeom>
          <a:solidFill>
            <a:srgbClr val="0B1F36"/>
          </a:solidFill>
          <a:ln w="12700">
            <a:solidFill>
              <a:srgbClr val="4FC3F7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822192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구분:  ⓪ 올인원 플랫폼(AnythingLLM·Dify 등)은 ①~⑤를 모두 내장한 완성형 · 반면 ①~⑤는 각각 선택해 직접 조합하는 구성 요소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91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구성요소 전체 구조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⓪ 올인원 플랫폼과 ①~⑤ 구성 도구는 레이어가 다름 — ⓪는 ①~⑤를 내장한 상위 산출물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41080" cy="768096"/>
          </a:xfrm>
          <a:prstGeom prst="rect">
            <a:avLst/>
          </a:prstGeom>
          <a:solidFill>
            <a:srgbClr val="FFF7ED"/>
          </a:solidFill>
          <a:ln w="12700">
            <a:solidFill>
              <a:srgbClr val="FCA1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86410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9611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96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" y="896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올인원 RAG 플랫폼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11704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①~⑤를 모두 내장 — 코드 없이 바로 RAG 구축 · 비개발자·소규모팀 최적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37760" y="987552"/>
            <a:ext cx="38770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AnythingLLM(53k★)  ·  Dify(90k★)  ·  RAGFlow  ·  PrivateGPT  ·  Open WebUI  ·  LM Studio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6032" y="1627632"/>
            <a:ext cx="8641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직접 조합하고 싶다면 ①~⑤를 선택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1920240"/>
            <a:ext cx="4224528" cy="640080"/>
          </a:xfrm>
          <a:prstGeom prst="rect">
            <a:avLst/>
          </a:prstGeom>
          <a:solidFill>
            <a:srgbClr val="E6F1FB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20240"/>
            <a:ext cx="4224528" cy="45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00253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0025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002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벡터 데이터베이스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22677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저장·검색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414016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· Qdrant · Pinecone · Milvus · pgvector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920240"/>
            <a:ext cx="4233672" cy="640080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920240"/>
            <a:ext cx="4233672" cy="457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002536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0025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65776" y="2002536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임베딩 모델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65776" y="22677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→ 벡터 변환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54880" y="2414016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· Solar · OpenAI · Jina · E5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2633472"/>
            <a:ext cx="4224528" cy="640080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633472"/>
            <a:ext cx="4224528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27157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7157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" y="2715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프레임워크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" y="29809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파이프라인 오케스트레이션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" y="3127248"/>
            <a:ext cx="4059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LlamaIndex · Haystack · RAGFlow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633472"/>
            <a:ext cx="4233672" cy="640080"/>
          </a:xfrm>
          <a:prstGeom prst="rect">
            <a:avLst/>
          </a:prstGeom>
          <a:solidFill>
            <a:srgbClr val="FAEEDA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633472"/>
            <a:ext cx="4233672" cy="457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71576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71576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65776" y="2715768"/>
            <a:ext cx="3758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4F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문서 처리·청킹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65776" y="29809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PDF·Word 파싱 및 분할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3127248"/>
            <a:ext cx="4069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· Docling · LlamaParse · PyMuPDF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3346704"/>
            <a:ext cx="8641080" cy="640080"/>
          </a:xfrm>
          <a:prstGeom prst="rect">
            <a:avLst/>
          </a:prstGeom>
          <a:solidFill>
            <a:srgbClr val="FCEBEB"/>
          </a:solidFill>
          <a:ln w="12700">
            <a:solidFill>
              <a:srgbClr val="F0959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6032" y="3346704"/>
            <a:ext cx="8641080" cy="457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42900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4290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8368" y="3429000"/>
            <a:ext cx="8165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품질 검증·평가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58368" y="369417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검색·답변 품질 측정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8476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· DeepEval · LangSmith · Arize Phoenix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059936"/>
            <a:ext cx="8641080" cy="804672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입문 추천 조합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65760" y="438912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없이 즉시: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048256" y="4389120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 또는 Dify  →  30분 안에 RAG 챗봇 완성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5760" y="453542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프로덕션: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48256" y="4535424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+ Solar Embedding + LlamaIndex + Unstructured + RAGAS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65760" y="46817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대규모 엔터프라이즈: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048256" y="4681728"/>
            <a:ext cx="6766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Milvus/Pinecone + OpenAI Embed + Amazon Bedrock KB + LlamaParse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구성요소 &amp; 솔루션 완전 정리</dc:title>
  <dc:subject>PptxGenJS Presentation</dc:subject>
  <dc:creator>PptxGenJS</dc:creator>
  <cp:lastModifiedBy>PptxGenJS</cp:lastModifiedBy>
  <cp:revision>1</cp:revision>
  <dcterms:created xsi:type="dcterms:W3CDTF">2026-05-15T03:04:10Z</dcterms:created>
  <dcterms:modified xsi:type="dcterms:W3CDTF">2026-05-15T03:04:10Z</dcterms:modified>
</cp:coreProperties>
</file>