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· MCP · Agent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완전 비교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2494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개 모두 프롬프트 증강이 아니다 — 역할과 동작 방식이 근본적으로 다르다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51760" cy="768096"/>
          </a:xfrm>
          <a:prstGeom prst="rect">
            <a:avLst/>
          </a:prstGeom>
          <a:solidFill>
            <a:srgbClr val="0B1F36"/>
          </a:solidFill>
          <a:ln w="12700">
            <a:solidFill>
              <a:srgbClr val="378ADD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834640"/>
            <a:ext cx="265176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9077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320040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 자료 찾아서 넣어줌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834640"/>
            <a:ext cx="2651760" cy="768096"/>
          </a:xfrm>
          <a:prstGeom prst="rect">
            <a:avLst/>
          </a:prstGeom>
          <a:solidFill>
            <a:srgbClr val="0F2922"/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834640"/>
            <a:ext cx="26517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9077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93008" y="320040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도구 쓰는 규격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2651760" cy="768096"/>
          </a:xfrm>
          <a:prstGeom prst="rect">
            <a:avLst/>
          </a:prstGeom>
          <a:solidFill>
            <a:srgbClr val="1E1840"/>
          </a:solidFill>
          <a:ln w="12700">
            <a:solidFill>
              <a:srgbClr val="7F77DD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834640"/>
            <a:ext cx="2651760" cy="54864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29077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77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27648" y="320040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 생각하고 행동하는 루프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 개의 근본적인 차이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6032" y="5120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같아 보이지만 모델의 역할, 루프 횟수, 외부 영향이 전혀 다르다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2834640" cy="4133088"/>
          </a:xfrm>
          <a:prstGeom prst="rect">
            <a:avLst/>
          </a:prstGeom>
          <a:solidFill>
            <a:srgbClr val="E6F1F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41248"/>
            <a:ext cx="2834640" cy="5120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595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44475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185FA5">
              <a:alpha val="20000"/>
            </a:srgbClr>
          </a:solidFill>
          <a:ln w="12700">
            <a:solidFill>
              <a:srgbClr val="185FA5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447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증강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84708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역할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04825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— 증강된 프롬프트 받아서 답함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54203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횟수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74320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 추론, 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23697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영향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43814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영향 없음 (읽기 전용)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93192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13308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전 참고서 펼쳐주는 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841248"/>
            <a:ext cx="2834640" cy="4133088"/>
          </a:xfrm>
          <a:prstGeom prst="rect">
            <a:avLst/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841248"/>
            <a:ext cx="2834640" cy="5120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8595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10128" y="11155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10128" y="144475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F6E56">
              <a:alpha val="20000"/>
            </a:srgbClr>
          </a:solidFill>
          <a:ln w="12700">
            <a:solidFill>
              <a:srgbClr val="0F6E56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14447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호출 프로토콜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184708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역할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10128" y="204825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능동 — 어떤 도구 쓸지 스스로 결정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254203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횟수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10128" y="274320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1~2회 추론 (호출 후 재추론)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10128" y="323697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영향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10128" y="343814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시스템 읽기+일부 쓰기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10128" y="393192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10128" y="413308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전화로 전문가 직접 연결하는 것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44768" y="841248"/>
            <a:ext cx="2834640" cy="4133088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44768" y="841248"/>
            <a:ext cx="2834640" cy="5120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8595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54496" y="11155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54496" y="144475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534AB7">
              <a:alpha val="20000"/>
            </a:srgbClr>
          </a:solidFill>
          <a:ln w="12700">
            <a:solidFill>
              <a:srgbClr val="534AB7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14447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계획·행동 루프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54496" y="184708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역할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54496" y="204825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— 목표까지 스스로 계획·실행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54496" y="254203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횟수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54496" y="274320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달성까지 N회 반복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54496" y="323697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영향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54496" y="343814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 + 쓰기 + 실행 + 다른 AI 호출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54496" y="393192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54496" y="413308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 일하는 직원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— Retrieval-Augmented Generation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51206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검색으로 프롬프트를 풍부하게 만들어 모델에 전달 — 모델은 수동적으로 받아서 답함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1371600" cy="658368"/>
          </a:xfrm>
          <a:prstGeom prst="rect">
            <a:avLst/>
          </a:prstGeom>
          <a:solidFill>
            <a:srgbClr val="F1EFE8"/>
          </a:solidFill>
          <a:ln w="12700">
            <a:solidFill>
              <a:srgbClr val="5F5E5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033272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질문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9184" y="133502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27632" y="1335024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64208" y="126187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1005840"/>
            <a:ext cx="1554480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03327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 검색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93392" y="133502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1335024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126187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49040" y="1005840"/>
            <a:ext cx="1737360" cy="658368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005840"/>
            <a:ext cx="173736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103327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증강 ★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22192" y="133502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1335024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2976" y="126187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1005840"/>
            <a:ext cx="1371600" cy="658368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1033272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(1회)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33872" y="133502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1-shot Inference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0" y="1335024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68896" y="126187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06640" y="1005840"/>
            <a:ext cx="1481328" cy="658368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9792" y="103327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79792" y="133502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1865376"/>
            <a:ext cx="2743200" cy="1298448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1865376"/>
            <a:ext cx="274320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검색 (Pre-retrieval)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" y="22677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질문과 관련된 문서를 벡터DB에서 미리 찾아둠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직접 검색하는 것이 아님 — 오케스트레이터가 대신함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45536" y="1865376"/>
            <a:ext cx="2743200" cy="1298448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45536" y="1865376"/>
            <a:ext cx="274320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36976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프롬프트에 붙여 넣기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36976" y="22677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{"질문": "LoRA 학습률?", "참고 문서": [문서1, 문서2, ...]}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이렇게 구성해서 모델에 한 번에 전달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35040" y="1865376"/>
            <a:ext cx="2743200" cy="1298448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1865376"/>
            <a:ext cx="274320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 추론으로 끝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22677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 없음 · 모델은 증강된 컨텍스트만 보고 답함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추가 행동을 할 수 없음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6032" y="3273552"/>
            <a:ext cx="864108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291840"/>
            <a:ext cx="8458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RAG 프레임워크:  LangChain  ·  LlamaIndex  ·  Haystack  ·  벡터DB: Chroma · Pinecone · Weaviate · FAISS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6032" y="3767328"/>
            <a:ext cx="8641080" cy="1152144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8039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적용 예시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5760" y="40965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사내 문서 Q&amp;A — 사규·계약서 검색 후 답변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3525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제조 매뉴얼 기반 문제 해결 — 명장 노하우 문서화 후 검색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5760" y="460857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법률·의료 정보 검색 — 최신 문서로 환각(hallucination) 방지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— Model Context Protocol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51206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Anthropic이 2024년 제안한 표준 프로토콜 — 모델이 외부 도구를 호출하는 방식을 규격화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914400" cy="658368"/>
          </a:xfrm>
          <a:prstGeom prst="rect">
            <a:avLst/>
          </a:prstGeom>
          <a:solidFill>
            <a:srgbClr val="F1EFE8"/>
          </a:solidFill>
          <a:ln w="12700">
            <a:solidFill>
              <a:srgbClr val="5F5E5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033272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" y="134416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70432" y="1335024"/>
            <a:ext cx="146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26187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08176" y="1005840"/>
            <a:ext cx="1463040" cy="658368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103327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추론 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81328" y="134416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 결정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71216" y="1335024"/>
            <a:ext cx="146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9504" y="126187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08960" y="1005840"/>
            <a:ext cx="1554480" cy="658368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103327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프로토콜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82112" y="1344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인터페이스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335024"/>
            <a:ext cx="146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126187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01184" y="1005840"/>
            <a:ext cx="1463040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03327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시스템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74336" y="134416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DB·API·파일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64224" y="1682496"/>
            <a:ext cx="0" cy="457200"/>
          </a:xfrm>
          <a:prstGeom prst="line">
            <a:avLst/>
          </a:prstGeom>
          <a:noFill/>
          <a:ln w="12700">
            <a:solidFill>
              <a:srgbClr val="185FA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408176" y="2139696"/>
            <a:ext cx="4956048" cy="0"/>
          </a:xfrm>
          <a:prstGeom prst="line">
            <a:avLst/>
          </a:prstGeom>
          <a:noFill/>
          <a:ln w="12700">
            <a:solidFill>
              <a:srgbClr val="185FA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408176" y="1682496"/>
            <a:ext cx="0" cy="457200"/>
          </a:xfrm>
          <a:prstGeom prst="line">
            <a:avLst/>
          </a:prstGeom>
          <a:noFill/>
          <a:ln w="12700">
            <a:solidFill>
              <a:srgbClr val="185FA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286000" y="21579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반환 → LLM 컨텍스트에 추가 후 LLM 추론 ②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2560320"/>
            <a:ext cx="8641080" cy="329184"/>
          </a:xfrm>
          <a:prstGeom prst="rect">
            <a:avLst/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578608"/>
            <a:ext cx="8458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RAG와의 핵심 차이:  RAG는 모델 호출 전에 프롬프트에 정보를 넣어줌  /  MCP는 모델이 추론 도중 스스로 외부를 호출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2980944"/>
            <a:ext cx="2743200" cy="1097280"/>
          </a:xfrm>
          <a:prstGeom prst="rect">
            <a:avLst/>
          </a:prstGeom>
          <a:solidFill>
            <a:srgbClr val="F1EFE8"/>
          </a:solidFill>
          <a:ln w="12700">
            <a:solidFill>
              <a:srgbClr val="0F6E56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2980944"/>
            <a:ext cx="45720" cy="10972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표준화된 프로토콜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3328416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· Slack · GitHub 등 다양한 서비스를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방식으로 연결 — 모델 입장에서 인터페이스 통일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45536" y="2980944"/>
            <a:ext cx="2743200" cy="1097280"/>
          </a:xfrm>
          <a:prstGeom prst="rect">
            <a:avLst/>
          </a:prstGeom>
          <a:solidFill>
            <a:srgbClr val="F1EFE8"/>
          </a:solidFill>
          <a:ln w="12700">
            <a:solidFill>
              <a:srgbClr val="534AB7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45536" y="2980944"/>
            <a:ext cx="45720" cy="10972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3552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능동적 도구 결정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73552" y="3328416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"지금 파일을 읽어야 하는지" 모델이 스스로 판단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미리 검색해서 넣어주는 RAG와 근본 차이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35040" y="2980944"/>
            <a:ext cx="2743200" cy="1097280"/>
          </a:xfrm>
          <a:prstGeom prst="rect">
            <a:avLst/>
          </a:prstGeom>
          <a:solidFill>
            <a:srgbClr val="F1EFE8"/>
          </a:solidFill>
          <a:ln w="12700">
            <a:solidFill>
              <a:srgbClr val="854F0B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2980944"/>
            <a:ext cx="45720" cy="109728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≠ 에이전트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63056" y="3328416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MCP는 프로토콜(연결 규격)이지 Agent가 아님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Agent가 MCP를 도구로 쓰는 것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6032" y="4169664"/>
            <a:ext cx="864108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187952"/>
            <a:ext cx="8458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적용 예시:  Claude + MCP로 Google Drive 파일 직접 읽기  ·  Slack 메시지 전송  ·  GitHub PR 생성  ·  데이터베이스 쿼리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47472" y="4517136"/>
            <a:ext cx="8458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수: MCP가 2026년 3월 기준 9,700만 건 돌파 — 사실상 AI 도구 연결 표준으로 자리잡는 중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— 자율 계획·행동 루프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51206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목표만 주면 스스로 계획하고 행동하고 수정하는 반복 루프 — RAG·MCP를 부품으로 포함하는 상위 개념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1463040" cy="621792"/>
          </a:xfrm>
          <a:prstGeom prst="rect">
            <a:avLst/>
          </a:prstGeom>
          <a:solidFill>
            <a:srgbClr val="F1EFE8"/>
          </a:solidFill>
          <a:ln w="12700">
            <a:solidFill>
              <a:srgbClr val="5F5E5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005840"/>
            <a:ext cx="13167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입력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19072" y="1316736"/>
            <a:ext cx="2011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2224" y="1243584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65376" y="1005840"/>
            <a:ext cx="1463040" cy="621792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8528" y="1005840"/>
            <a:ext cx="13167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 Plan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28416" y="1316736"/>
            <a:ext cx="2011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243584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1005840"/>
            <a:ext cx="1463040" cy="621792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005840"/>
            <a:ext cx="13167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316736"/>
            <a:ext cx="2011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1243584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84064" y="1005840"/>
            <a:ext cx="1463040" cy="621792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7216" y="1005840"/>
            <a:ext cx="13167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Obs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47104" y="1316736"/>
            <a:ext cx="2011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0256" y="1243584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93408" y="1005840"/>
            <a:ext cx="1463040" cy="621792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005840"/>
            <a:ext cx="13167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달성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28816" y="1627632"/>
            <a:ext cx="0" cy="402336"/>
          </a:xfrm>
          <a:prstGeom prst="line">
            <a:avLst/>
          </a:prstGeom>
          <a:noFill/>
          <a:ln w="12700">
            <a:solidFill>
              <a:srgbClr val="854F0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865376" y="2029968"/>
            <a:ext cx="4663440" cy="0"/>
          </a:xfrm>
          <a:prstGeom prst="line">
            <a:avLst/>
          </a:prstGeom>
          <a:noFill/>
          <a:ln w="12700">
            <a:solidFill>
              <a:srgbClr val="854F0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865376" y="1627632"/>
            <a:ext cx="0" cy="402336"/>
          </a:xfrm>
          <a:prstGeom prst="line">
            <a:avLst/>
          </a:prstGeom>
          <a:noFill/>
          <a:ln w="12700">
            <a:solidFill>
              <a:srgbClr val="854F0B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743200" y="20482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목표 미달성이면 재계획 반복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450592"/>
            <a:ext cx="2743200" cy="1316736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450592"/>
            <a:ext cx="274320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자율성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7472" y="2852928"/>
            <a:ext cx="2560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개입 없이 스스로 판단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"다음에 뭘 해야 하나?" 를 스스로 결정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45536" y="2450592"/>
            <a:ext cx="2743200" cy="1316736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45536" y="2450592"/>
            <a:ext cx="274320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36976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복합 도구 사용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36976" y="2852928"/>
            <a:ext cx="2560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(지식 검색)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(외부 시스템 연결)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실행 · 브라우저 제어 · 파일 I/O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2450592"/>
            <a:ext cx="2743200" cy="1316736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2450592"/>
            <a:ext cx="274320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장기 목표 수행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26480" y="2852928"/>
            <a:ext cx="2560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Q&amp;A가 아닌 여러 단계의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작업을 처음부터 끝까지 수행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" y="3877056"/>
            <a:ext cx="8641080" cy="457200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913632"/>
            <a:ext cx="8458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포함 관계:  Agent ⊃ RAG  ·  Agent ⊃ MCP  ·  Agent ⊃ Code Executor  ·  Agent ⊃ Sub-Agent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56032" y="4407408"/>
            <a:ext cx="8641080" cy="475488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425696"/>
            <a:ext cx="8458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프레임워크:  LangGraph · AutoGen · CrewAI · Claude (Anthropic MCP 기반) · OpenAI Agents SDK · Cursor (코딩 에이전트)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한눈에 보는 비교 요약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68096"/>
            <a:ext cx="859536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86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비교 항목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73936" y="786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59352" y="786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44768" y="78638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33856"/>
            <a:ext cx="859536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8872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92224" y="1188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증강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77640" y="1188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호출 프로토콜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63056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계획·행동 루프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636776"/>
            <a:ext cx="8595360" cy="475488"/>
          </a:xfrm>
          <a:prstGeom prst="rect">
            <a:avLst/>
          </a:prstGeom>
          <a:solidFill>
            <a:srgbClr val="141E35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69164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역할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92224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— 받아서 답함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7764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능동 — 호출 결정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63056" y="1691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— 계획·실행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139696"/>
            <a:ext cx="859536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19456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횟수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92224" y="2194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1회, 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77640" y="2194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63056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목표까지 N회 반복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642616"/>
            <a:ext cx="8595360" cy="475488"/>
          </a:xfrm>
          <a:prstGeom prst="rect">
            <a:avLst/>
          </a:prstGeom>
          <a:solidFill>
            <a:srgbClr val="141E35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69748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영향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92224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 (읽기 전용)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7764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 + 일부 쓰기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63056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읽기·쓰기·실행 모두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145536"/>
            <a:ext cx="859536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20040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 여부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92224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7764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63056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있음 (핵심)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648456"/>
            <a:ext cx="8595360" cy="475488"/>
          </a:xfrm>
          <a:prstGeom prst="rect">
            <a:avLst/>
          </a:prstGeom>
          <a:solidFill>
            <a:srgbClr val="141E35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70332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프레임워크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792224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7764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Anthropc 표준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63056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· AutoGen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151376"/>
            <a:ext cx="859536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20624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792224" y="4206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전 참고서 펼치기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77640" y="4206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직접 전화 연결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63056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 일하는 직원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681728"/>
            <a:ext cx="8595360" cy="256032"/>
          </a:xfrm>
          <a:prstGeom prst="rect">
            <a:avLst/>
          </a:prstGeom>
          <a:solidFill>
            <a:srgbClr val="0B1F36"/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69087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포함 관계:  Agent ⊃ MCP ⊃ (도구)  ·  Agent ⊃ RAG ⊃ (검색)  ·  RAG와 MCP는 Agent의 부품이지 Agent 자체가 아님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· MCP · Agent 완전 비교</dc:title>
  <dc:subject>PptxGenJS Presentation</dc:subject>
  <dc:creator>PptxGenJS</dc:creator>
  <cp:lastModifiedBy>PptxGenJS</cp:lastModifiedBy>
  <cp:revision>1</cp:revision>
  <dcterms:created xsi:type="dcterms:W3CDTF">2026-05-15T02:49:38Z</dcterms:created>
  <dcterms:modified xsi:type="dcterms:W3CDTF">2026-05-15T02:49:38Z</dcterms:modified>
</cp:coreProperties>
</file>