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Georgia"/>
              </a:rPr>
              <a:t>AI 산업 현황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토큰 경제  ·  소버린 AI  ·  AI 모델 개발  ·  피지컬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77"/>
                </a:solidFill>
                <a:latin typeface="Calibri"/>
              </a:rPr>
              <a:t>NVIDIA GTC 2026  ·  과기정통부  ·  나무위키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76272"/>
            <a:ext cx="1993392" cy="804672"/>
          </a:xfrm>
          <a:prstGeom prst="rect">
            <a:avLst/>
          </a:prstGeom>
          <a:solidFill>
            <a:srgbClr val="0B1836"/>
          </a:solidFill>
          <a:ln w="63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2176272"/>
            <a:ext cx="1993392" cy="54864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2249424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C3F7"/>
                </a:solidFill>
                <a:latin typeface="Georgia"/>
              </a:rPr>
              <a:t>토큰 경제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523744"/>
            <a:ext cx="1792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88"/>
                </a:solidFill>
                <a:latin typeface="Calibri"/>
              </a:rPr>
              <a:t>Jensen Huang · GTC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87168" y="2176272"/>
            <a:ext cx="1993392" cy="804672"/>
          </a:xfrm>
          <a:prstGeom prst="rect">
            <a:avLst/>
          </a:prstGeom>
          <a:solidFill>
            <a:srgbClr val="070D1F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87168" y="2176272"/>
            <a:ext cx="199339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96896" y="2249424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Georgia"/>
              </a:rPr>
              <a:t>소버린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96896" y="2523744"/>
            <a:ext cx="1792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88"/>
                </a:solidFill>
                <a:latin typeface="Calibri"/>
              </a:rPr>
              <a:t>국가대표 AI 사업 포함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08576" y="2176272"/>
            <a:ext cx="1993392" cy="804672"/>
          </a:xfrm>
          <a:prstGeom prst="rect">
            <a:avLst/>
          </a:prstGeom>
          <a:solidFill>
            <a:srgbClr val="12102A"/>
          </a:solidFill>
          <a:ln w="6350">
            <a:solidFill>
              <a:srgbClr val="7F7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08576" y="2176272"/>
            <a:ext cx="1993392" cy="54864"/>
          </a:xfrm>
          <a:prstGeom prst="rect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18304" y="2249424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F77DD"/>
                </a:solidFill>
                <a:latin typeface="Georgia"/>
              </a:rPr>
              <a:t>AI 모델 개발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18304" y="2523744"/>
            <a:ext cx="1792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88"/>
                </a:solidFill>
                <a:latin typeface="Calibri"/>
              </a:rPr>
              <a:t>4가지 의미 · Lv.1~4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29983" y="2176272"/>
            <a:ext cx="1993392" cy="804672"/>
          </a:xfrm>
          <a:prstGeom prst="rect">
            <a:avLst/>
          </a:prstGeom>
          <a:solidFill>
            <a:srgbClr val="061A10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29983" y="2176272"/>
            <a:ext cx="199339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39712" y="2249424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Georgia"/>
              </a:rPr>
              <a:t>피지컬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9712" y="2523744"/>
            <a:ext cx="1792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88"/>
                </a:solidFill>
                <a:latin typeface="Calibri"/>
              </a:rPr>
              <a:t>협동로봇 + 기술 스택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163824"/>
            <a:ext cx="8412480" cy="950976"/>
          </a:xfrm>
          <a:prstGeom prst="rect">
            <a:avLst/>
          </a:prstGeom>
          <a:solidFill>
            <a:srgbClr val="0A0A1A"/>
          </a:solidFill>
          <a:ln w="635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3163824"/>
            <a:ext cx="54864" cy="950976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3255264"/>
            <a:ext cx="8046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DD"/>
                </a:solidFill>
                <a:latin typeface="Calibri"/>
              </a:rPr>
              <a:t>"The AI factory will become the bedrock of modern economies.</a:t>
            </a:r>
          </a:p>
          <a:p>
            <a:pPr algn="l"/>
            <a:r>
              <a:rPr sz="1200" b="0" i="1">
                <a:solidFill>
                  <a:srgbClr val="CCCCDD"/>
                </a:solidFill>
                <a:latin typeface="Calibri"/>
              </a:rPr>
              <a:t> Physical AI has arrived — every industrial company will become a robotics company."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023360"/>
            <a:ext cx="19385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FC3F7"/>
                </a:solidFill>
                <a:latin typeface="Calibri"/>
              </a:rPr>
              <a:t>— Jensen Huang, GTC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4846320"/>
            <a:ext cx="1298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33355"/>
                </a:solidFill>
                <a:latin typeface="Calibri"/>
              </a:rPr>
              <a:t>사내 교육용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28016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토큰 경제  (Token Economy)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566928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alibri"/>
              </a:rPr>
              <a:t>NVIDIA CEO 젠슨 황  ·  GTC 2026 기조연설 + All-In Podcast  ·  2026.03.16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877824"/>
            <a:ext cx="8449056" cy="1225296"/>
          </a:xfrm>
          <a:prstGeom prst="rect">
            <a:avLst/>
          </a:prstGeom>
          <a:solidFill>
            <a:srgbClr val="111122"/>
          </a:solidFill>
          <a:ln w="6350">
            <a:solidFill>
              <a:srgbClr val="76C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877824"/>
            <a:ext cx="54864" cy="1225296"/>
          </a:xfrm>
          <a:prstGeom prst="rect">
            <a:avLst/>
          </a:prstGeom>
          <a:solidFill>
            <a:srgbClr val="76C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950976"/>
            <a:ext cx="822960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E8F0"/>
                </a:solidFill>
                <a:latin typeface="Calibri"/>
              </a:rPr>
              <a:t>"I could totally imagine in the future every single engineer in our company will need an annual token budget.</a:t>
            </a:r>
          </a:p>
          <a:p>
            <a:pPr algn="l"/>
            <a:r>
              <a:rPr sz="1200" b="0" i="1">
                <a:solidFill>
                  <a:srgbClr val="E8E8F0"/>
                </a:solidFill>
                <a:latin typeface="Calibri"/>
              </a:rPr>
              <a:t> They're going to make a few hundred thousand a year as their base pay.</a:t>
            </a:r>
          </a:p>
          <a:p>
            <a:pPr algn="l"/>
            <a:r>
              <a:rPr sz="1200" b="0" i="1">
                <a:solidFill>
                  <a:srgbClr val="E8E8F0"/>
                </a:solidFill>
                <a:latin typeface="Calibri"/>
              </a:rPr>
              <a:t> I'm going to give them probably half of that on top of it as tokens, so that they could be amplified 10 times."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029968"/>
            <a:ext cx="17739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6C442"/>
                </a:solidFill>
                <a:latin typeface="Calibri"/>
              </a:rPr>
              <a:t>— Jensen Huang, GTC 2026 기조연설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2304288"/>
            <a:ext cx="2724912" cy="2615184"/>
          </a:xfrm>
          <a:prstGeom prst="rect">
            <a:avLst/>
          </a:prstGeom>
          <a:solidFill>
            <a:srgbClr val="0D1A0D"/>
          </a:solidFill>
          <a:ln w="6350">
            <a:solidFill>
              <a:srgbClr val="76C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" y="2304288"/>
            <a:ext cx="2724912" cy="45720"/>
          </a:xfrm>
          <a:prstGeom prst="rect">
            <a:avLst/>
          </a:prstGeom>
          <a:solidFill>
            <a:srgbClr val="76C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377440"/>
            <a:ext cx="2505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6C442"/>
                </a:solidFill>
                <a:latin typeface="Georgia"/>
              </a:rPr>
              <a:t>AI 공장 (AI Factory)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51760"/>
            <a:ext cx="2505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88"/>
                </a:solidFill>
                <a:latin typeface="Calibri"/>
              </a:rPr>
              <a:t>데이터센터의 재정의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07792"/>
            <a:ext cx="250545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E0"/>
                </a:solidFill>
                <a:latin typeface="Calibri"/>
              </a:rPr>
              <a:t>전력 + 데이터  →  토큰 생산</a:t>
            </a:r>
          </a:p>
          <a:p>
            <a:pPr algn="l"/>
            <a:r>
              <a:rPr sz="1100" b="0" i="0">
                <a:solidFill>
                  <a:srgbClr val="D0D0E0"/>
                </a:solidFill>
                <a:latin typeface="Calibri"/>
              </a:rPr>
              <a:t>토큰 = AI 지능의 출력 단위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74720"/>
            <a:ext cx="2505456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76C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529584"/>
            <a:ext cx="23591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76C442"/>
                </a:solidFill>
                <a:latin typeface="Calibri"/>
              </a:rPr>
              <a:t>Revenue = Tokens/Watt × 가용 전력(GW)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97680"/>
            <a:ext cx="2505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77"/>
                </a:solidFill>
                <a:latin typeface="Calibri"/>
              </a:rPr>
              <a:t>젠슨 황이 제시한 CEO용 공식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82112" y="2304288"/>
            <a:ext cx="2724912" cy="2615184"/>
          </a:xfrm>
          <a:prstGeom prst="rect">
            <a:avLst/>
          </a:prstGeom>
          <a:solidFill>
            <a:srgbClr val="0B1820"/>
          </a:solidFill>
          <a:ln w="63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182112" y="2304288"/>
            <a:ext cx="2724912" cy="457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2377440"/>
            <a:ext cx="2505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C3F7"/>
                </a:solidFill>
                <a:latin typeface="Georgia"/>
              </a:rPr>
              <a:t>토큰 = 새로운 화폐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2651760"/>
            <a:ext cx="2505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88"/>
                </a:solidFill>
                <a:latin typeface="Calibri"/>
              </a:rPr>
              <a:t>보상 체계의 변화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2907792"/>
            <a:ext cx="250545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E0"/>
                </a:solidFill>
                <a:latin typeface="Calibri"/>
              </a:rPr>
              <a:t>연봉 $500K 엔지니어</a:t>
            </a:r>
          </a:p>
          <a:p>
            <a:pPr algn="l"/>
            <a:r>
              <a:rPr sz="1100" b="0" i="0">
                <a:solidFill>
                  <a:srgbClr val="D0D0E0"/>
                </a:solidFill>
                <a:latin typeface="Calibri"/>
              </a:rPr>
              <a:t>→ 토큰 예산 추가 $250K 지급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1840" y="3474720"/>
            <a:ext cx="2505456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64992" y="3529584"/>
            <a:ext cx="23591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FC3F7"/>
                </a:solidFill>
                <a:latin typeface="Calibri"/>
              </a:rPr>
              <a:t>"실리콘밸리에서 토큰은 채용 도구</a:t>
            </a:r>
          </a:p>
          <a:p>
            <a:pPr algn="l"/>
            <a:r>
              <a:rPr sz="950" b="0" i="1">
                <a:solidFill>
                  <a:srgbClr val="4FC3F7"/>
                </a:solidFill>
                <a:latin typeface="Calibri"/>
              </a:rPr>
              <a:t>입사 제안에 토큰이 몇 개 딸려오나요?"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4297680"/>
            <a:ext cx="2505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77"/>
                </a:solidFill>
                <a:latin typeface="Calibri"/>
              </a:rPr>
              <a:t>All-In Podcast (2026.03.16)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16752" y="2304288"/>
            <a:ext cx="2724912" cy="2615184"/>
          </a:xfrm>
          <a:prstGeom prst="rect">
            <a:avLst/>
          </a:prstGeom>
          <a:solidFill>
            <a:srgbClr val="130D1A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16752" y="2304288"/>
            <a:ext cx="2724912" cy="457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2377440"/>
            <a:ext cx="2505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  <a:latin typeface="Georgia"/>
              </a:rPr>
              <a:t>추론 인플렉션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2651760"/>
            <a:ext cx="2505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88"/>
                </a:solidFill>
                <a:latin typeface="Calibri"/>
              </a:rPr>
              <a:t>연산 수요의 폭발적 증가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2907792"/>
            <a:ext cx="250545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E0"/>
                </a:solidFill>
                <a:latin typeface="Calibri"/>
              </a:rPr>
              <a:t>Generative → Reasoning: 100배↑</a:t>
            </a:r>
          </a:p>
          <a:p>
            <a:pPr algn="l"/>
            <a:r>
              <a:rPr sz="1100" b="0" i="0">
                <a:solidFill>
                  <a:srgbClr val="D0D0E0"/>
                </a:solidFill>
                <a:latin typeface="Calibri"/>
              </a:rPr>
              <a:t>Reasoning → Agentic: 100배↑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3474720"/>
            <a:ext cx="2505456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99632" y="3529584"/>
            <a:ext cx="23591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A78BFA"/>
                </a:solidFill>
                <a:latin typeface="Calibri"/>
              </a:rPr>
              <a:t>"단 2년 만에 연산량 10,000배 증가"</a:t>
            </a:r>
          </a:p>
          <a:p>
            <a:pPr algn="l"/>
            <a:r>
              <a:rPr sz="950" b="0" i="1">
                <a:solidFill>
                  <a:srgbClr val="A78BFA"/>
                </a:solidFill>
                <a:latin typeface="Calibri"/>
              </a:rPr>
              <a:t>2027년 AI 컴퓨팅 수요 최소 $1조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4297680"/>
            <a:ext cx="2505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77"/>
                </a:solidFill>
                <a:latin typeface="Calibri"/>
              </a:rPr>
              <a:t>GTC 2026 기조연설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4901184"/>
            <a:ext cx="9144000" cy="36576"/>
          </a:xfrm>
          <a:prstGeom prst="rect">
            <a:avLst/>
          </a:prstGeom>
          <a:solidFill>
            <a:srgbClr val="76C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1168" y="4928616"/>
            <a:ext cx="16459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6C442"/>
                </a:solidFill>
                <a:latin typeface="Georgia"/>
              </a:rPr>
              <a:t>$1조+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1168" y="5038344"/>
            <a:ext cx="16459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4433"/>
                </a:solidFill>
                <a:latin typeface="Calibri"/>
              </a:rPr>
              <a:t>2027 AI 컴퓨팅 수요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02536" y="4928616"/>
            <a:ext cx="16459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6C442"/>
                </a:solidFill>
                <a:latin typeface="Georgia"/>
              </a:rPr>
              <a:t>35×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02536" y="5038344"/>
            <a:ext cx="16459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4433"/>
                </a:solidFill>
                <a:latin typeface="Calibri"/>
              </a:rPr>
              <a:t>Rubin 토큰 처리량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03904" y="4928616"/>
            <a:ext cx="16459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6C442"/>
                </a:solidFill>
                <a:latin typeface="Georgia"/>
              </a:rPr>
              <a:t>10,000×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03904" y="5038344"/>
            <a:ext cx="16459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4433"/>
                </a:solidFill>
                <a:latin typeface="Calibri"/>
              </a:rPr>
              <a:t>2년간 AI 연산 수요 증가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05272" y="4928616"/>
            <a:ext cx="16459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6C442"/>
                </a:solidFill>
                <a:latin typeface="Georgia"/>
              </a:rPr>
              <a:t>$250K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05272" y="5038344"/>
            <a:ext cx="16459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4433"/>
                </a:solidFill>
                <a:latin typeface="Calibri"/>
              </a:rPr>
              <a:t>엔지니어 연간 토큰 예산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06640" y="4928616"/>
            <a:ext cx="16459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6C442"/>
                </a:solidFill>
                <a:latin typeface="Georgia"/>
              </a:rPr>
              <a:t>$2B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06640" y="5038344"/>
            <a:ext cx="16459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4433"/>
                </a:solidFill>
                <a:latin typeface="Calibri"/>
              </a:rPr>
              <a:t>NVIDIA 연간 토큰 투자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4919472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33355"/>
                </a:solidFill>
                <a:latin typeface="Calibri"/>
              </a:rPr>
              <a:t>1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0972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93C5FD"/>
                </a:solidFill>
                <a:latin typeface="Georgia"/>
              </a:rPr>
              <a:t>소버린 AI  &amp;  국가대표 AI 사업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4937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B82F6"/>
                </a:solidFill>
                <a:latin typeface="Calibri"/>
              </a:rPr>
              <a:t>Sovereign AI  ·  NVIDIA CEO 젠슨 황  /  한국 독자 AI 파운데이션 모델 프로젝트  ·  과기정통부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768096"/>
            <a:ext cx="4206240" cy="768096"/>
          </a:xfrm>
          <a:prstGeom prst="rect">
            <a:avLst/>
          </a:prstGeom>
          <a:solidFill>
            <a:srgbClr val="070D1F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768096"/>
            <a:ext cx="54864" cy="7680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822960"/>
            <a:ext cx="40050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93C5FD"/>
                </a:solidFill>
                <a:latin typeface="Calibri"/>
              </a:rPr>
              <a:t>"It codifies your culture, your society's intelligence,</a:t>
            </a:r>
          </a:p>
          <a:p>
            <a:pPr algn="l"/>
            <a:r>
              <a:rPr sz="1050" b="0" i="1">
                <a:solidFill>
                  <a:srgbClr val="93C5FD"/>
                </a:solidFill>
                <a:latin typeface="Calibri"/>
              </a:rPr>
              <a:t> your history — you own your own data."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481328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3B82F6"/>
                </a:solidFill>
                <a:latin typeface="Calibri"/>
              </a:rPr>
              <a:t>— Jensen Huang, World Government Summit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1627632"/>
            <a:ext cx="4206240" cy="548640"/>
          </a:xfrm>
          <a:prstGeom prst="rect">
            <a:avLst/>
          </a:prstGeom>
          <a:solidFill>
            <a:srgbClr val="070D1F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66420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B82F6"/>
                </a:solidFill>
                <a:latin typeface="Calibri"/>
              </a:rPr>
              <a:t>정의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865376"/>
            <a:ext cx="4005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국가가 자국 인프라·데이터·인력을 활용해 AI를 직접 생산·소유·운영하는 역량 — "AI판 에너지 자립"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" y="2231136"/>
            <a:ext cx="4206240" cy="23774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225856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3C5FD"/>
                </a:solidFill>
                <a:latin typeface="Calibri"/>
              </a:rPr>
              <a:t>각국 소버린 AI 추진 현황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2505456"/>
            <a:ext cx="4206240" cy="310896"/>
          </a:xfrm>
          <a:prstGeom prst="rect">
            <a:avLst/>
          </a:prstGeom>
          <a:solidFill>
            <a:srgbClr val="0A0A1A"/>
          </a:solidFill>
          <a:ln w="6350">
            <a:solidFill>
              <a:srgbClr val="1111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2551176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3C5FD"/>
                </a:solidFill>
                <a:latin typeface="Calibri"/>
              </a:rPr>
              <a:t>🇯🇵 일본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98448" y="2569464"/>
            <a:ext cx="585216" cy="182880"/>
          </a:xfrm>
          <a:prstGeom prst="rect">
            <a:avLst/>
          </a:prstGeom>
          <a:solidFill>
            <a:srgbClr val="1E3A5F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98448" y="2569464"/>
            <a:ext cx="585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93C5FD"/>
                </a:solidFill>
                <a:latin typeface="Calibri"/>
              </a:rPr>
              <a:t>$7.4억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2551176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KDDI·Sakura·SoftBank · 일본어 LLM 개발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" y="2834640"/>
            <a:ext cx="4206240" cy="310896"/>
          </a:xfrm>
          <a:prstGeom prst="rect">
            <a:avLst/>
          </a:prstGeom>
          <a:solidFill>
            <a:srgbClr val="0D0D20"/>
          </a:solidFill>
          <a:ln w="6350">
            <a:solidFill>
              <a:srgbClr val="1111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2880360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3C5FD"/>
                </a:solidFill>
                <a:latin typeface="Calibri"/>
              </a:rPr>
              <a:t>🇫🇷 프랑스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98448" y="2898648"/>
            <a:ext cx="585216" cy="182880"/>
          </a:xfrm>
          <a:prstGeom prst="rect">
            <a:avLst/>
          </a:prstGeom>
          <a:solidFill>
            <a:srgbClr val="1E3A5F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98448" y="2898648"/>
            <a:ext cx="585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93C5FD"/>
                </a:solidFill>
                <a:latin typeface="Calibri"/>
              </a:rPr>
              <a:t>대규모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2880360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Scaleway · 유럽 최강 AI 슈퍼컴 구축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" y="3163824"/>
            <a:ext cx="4206240" cy="310896"/>
          </a:xfrm>
          <a:prstGeom prst="rect">
            <a:avLst/>
          </a:prstGeom>
          <a:solidFill>
            <a:srgbClr val="0A0A1A"/>
          </a:solidFill>
          <a:ln w="6350">
            <a:solidFill>
              <a:srgbClr val="1111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3209544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3C5FD"/>
                </a:solidFill>
                <a:latin typeface="Calibri"/>
              </a:rPr>
              <a:t>🇮🇳 인도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98448" y="3227832"/>
            <a:ext cx="585216" cy="182880"/>
          </a:xfrm>
          <a:prstGeom prst="rect">
            <a:avLst/>
          </a:prstGeom>
          <a:solidFill>
            <a:srgbClr val="1E3A5F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98448" y="3227832"/>
            <a:ext cx="585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93C5FD"/>
                </a:solidFill>
                <a:latin typeface="Calibri"/>
              </a:rPr>
              <a:t>대규모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3209544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Tata GH200 인프라 + Reliance 다국어 LLM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" y="3493008"/>
            <a:ext cx="4206240" cy="310896"/>
          </a:xfrm>
          <a:prstGeom prst="rect">
            <a:avLst/>
          </a:prstGeom>
          <a:solidFill>
            <a:srgbClr val="0D0D20"/>
          </a:solidFill>
          <a:ln w="6350">
            <a:solidFill>
              <a:srgbClr val="1111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" y="3538728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3C5FD"/>
                </a:solidFill>
                <a:latin typeface="Calibri"/>
              </a:rPr>
              <a:t>🇦🇪 UAE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98448" y="3557016"/>
            <a:ext cx="585216" cy="182880"/>
          </a:xfrm>
          <a:prstGeom prst="rect">
            <a:avLst/>
          </a:prstGeom>
          <a:solidFill>
            <a:srgbClr val="1E3A5F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98448" y="3557016"/>
            <a:ext cx="585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93C5FD"/>
                </a:solidFill>
                <a:latin typeface="Calibri"/>
              </a:rPr>
              <a:t>국가주도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538728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Falcon LLM + 정부 AI 플랫폼 · 중동 AI 허브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7472" y="3822191"/>
            <a:ext cx="4206240" cy="310896"/>
          </a:xfrm>
          <a:prstGeom prst="rect">
            <a:avLst/>
          </a:prstGeom>
          <a:solidFill>
            <a:srgbClr val="0A0A1A"/>
          </a:solidFill>
          <a:ln w="6350">
            <a:solidFill>
              <a:srgbClr val="1111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912" y="3867911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3C5FD"/>
                </a:solidFill>
                <a:latin typeface="Calibri"/>
              </a:rPr>
              <a:t>🇰🇷 한국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98448" y="3886200"/>
            <a:ext cx="585216" cy="182880"/>
          </a:xfrm>
          <a:prstGeom prst="rect">
            <a:avLst/>
          </a:prstGeom>
          <a:solidFill>
            <a:srgbClr val="1E3A5F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98448" y="3886200"/>
            <a:ext cx="585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93C5FD"/>
                </a:solidFill>
                <a:latin typeface="Calibri"/>
              </a:rPr>
              <a:t>5,300억원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3867911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독자 AI 파운데이션 모델 프로젝트 (→ 우측)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63440" y="768096"/>
            <a:ext cx="18288" cy="4169663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73168" y="768096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93C5FD"/>
                </a:solidFill>
                <a:latin typeface="Georgia"/>
              </a:rPr>
              <a:t>🇰🇷 국가대표 AI 사업 진행 현황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73168" y="1042415"/>
            <a:ext cx="4206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B82F6"/>
                </a:solidFill>
                <a:latin typeface="Calibri"/>
              </a:rPr>
              <a:t>독자 AI 파운데이션 모델 프로젝트  ·  총예산 5,300억원  ·  과기정통부 주관</a:t>
            </a:r>
          </a:p>
        </p:txBody>
      </p:sp>
      <p:sp>
        <p:nvSpPr>
          <p:cNvPr id="43" name="Oval 42"/>
          <p:cNvSpPr/>
          <p:nvPr/>
        </p:nvSpPr>
        <p:spPr>
          <a:xfrm>
            <a:off x="4956048" y="1353312"/>
            <a:ext cx="109728" cy="109728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74920" y="1463040"/>
            <a:ext cx="18288" cy="749808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03520" y="13350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3A5F"/>
                </a:solidFill>
                <a:latin typeface="Calibri"/>
              </a:rPr>
              <a:t>2025.07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1335024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15팀 지원 → 서면평가 → 10팀 통과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03520" y="1554480"/>
            <a:ext cx="3566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LG·네이버·카카오·SKT·KT·NC AI·업스테이지·모티프·코난·KAIST</a:t>
            </a:r>
          </a:p>
        </p:txBody>
      </p:sp>
      <p:sp>
        <p:nvSpPr>
          <p:cNvPr id="48" name="Oval 47"/>
          <p:cNvSpPr/>
          <p:nvPr/>
        </p:nvSpPr>
        <p:spPr>
          <a:xfrm>
            <a:off x="4956048" y="2231136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74920" y="2340864"/>
            <a:ext cx="18288" cy="749808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212080" y="2194560"/>
            <a:ext cx="3730752" cy="822960"/>
          </a:xfrm>
          <a:prstGeom prst="rect">
            <a:avLst/>
          </a:prstGeom>
          <a:solidFill>
            <a:srgbClr val="070D1F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212080" y="2194560"/>
            <a:ext cx="36576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03520" y="22128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  <a:latin typeface="Calibri"/>
              </a:rPr>
              <a:t>2025.08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221284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3C5FD"/>
                </a:solidFill>
                <a:latin typeface="Calibri"/>
              </a:rPr>
              <a:t>정예팀 5팀 선발 ★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03520" y="2432304"/>
            <a:ext cx="3566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3C5FD"/>
                </a:solidFill>
                <a:latin typeface="Calibri"/>
              </a:rPr>
              <a:t>SKT · LG AI연구원 · 업스테이지 · 네이버클라우드 · NC AI</a:t>
            </a:r>
          </a:p>
          <a:p>
            <a:pPr algn="l"/>
            <a:r>
              <a:rPr sz="900" b="0" i="0">
                <a:solidFill>
                  <a:srgbClr val="93C5FD"/>
                </a:solidFill>
                <a:latin typeface="Calibri"/>
              </a:rPr>
              <a:t>GPU H100 1,024장 + 데이터 240억원 지원</a:t>
            </a:r>
          </a:p>
        </p:txBody>
      </p:sp>
      <p:sp>
        <p:nvSpPr>
          <p:cNvPr id="55" name="Oval 54"/>
          <p:cNvSpPr/>
          <p:nvPr/>
        </p:nvSpPr>
        <p:spPr>
          <a:xfrm>
            <a:off x="4956048" y="3108960"/>
            <a:ext cx="109728" cy="109728"/>
          </a:xfrm>
          <a:prstGeom prst="ellipse">
            <a:avLst/>
          </a:prstGeom>
          <a:solidFill>
            <a:srgbClr val="A3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074920" y="3218688"/>
            <a:ext cx="18288" cy="749808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03520" y="309067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32D2D"/>
                </a:solidFill>
                <a:latin typeface="Calibri"/>
              </a:rPr>
              <a:t>2026.01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3090672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1차 평가 → 2팀 탈락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03520" y="3310128"/>
            <a:ext cx="3566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네이버클라우드: 프롬 스크래치 기준 미달</a:t>
            </a:r>
          </a:p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NC AI: 평가 점수 미달</a:t>
            </a:r>
          </a:p>
        </p:txBody>
      </p:sp>
      <p:sp>
        <p:nvSpPr>
          <p:cNvPr id="60" name="Oval 59"/>
          <p:cNvSpPr/>
          <p:nvPr/>
        </p:nvSpPr>
        <p:spPr>
          <a:xfrm>
            <a:off x="4956048" y="3986783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12080" y="3950208"/>
            <a:ext cx="3730752" cy="822960"/>
          </a:xfrm>
          <a:prstGeom prst="rect">
            <a:avLst/>
          </a:prstGeom>
          <a:solidFill>
            <a:srgbClr val="061A10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12080" y="3950208"/>
            <a:ext cx="36576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303520" y="396849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현재 (2026)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0" y="3968496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EE7B7"/>
                </a:solidFill>
                <a:latin typeface="Calibri"/>
              </a:rPr>
              <a:t>3팀 경쟁 중 ←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03520" y="4187952"/>
            <a:ext cx="3566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E7B7"/>
                </a:solidFill>
                <a:latin typeface="Calibri"/>
              </a:rPr>
              <a:t>SK텔레콤  ·  LG AI연구원  ·  업스테이지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4882896"/>
            <a:ext cx="9144000" cy="260603"/>
          </a:xfrm>
          <a:prstGeom prst="rect">
            <a:avLst/>
          </a:prstGeom>
          <a:solidFill>
            <a:srgbClr val="030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0" y="4882896"/>
            <a:ext cx="91440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01168" y="4919472"/>
            <a:ext cx="16459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3C5FD"/>
                </a:solidFill>
                <a:latin typeface="Georgia"/>
              </a:rPr>
              <a:t>5,300억원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1168" y="5038344"/>
            <a:ext cx="16459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4466"/>
                </a:solidFill>
                <a:latin typeface="Calibri"/>
              </a:rPr>
              <a:t>정부 지원 총예산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02536" y="4919472"/>
            <a:ext cx="16459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3C5FD"/>
                </a:solidFill>
                <a:latin typeface="Georgia"/>
              </a:rPr>
              <a:t>5팀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002536" y="5038344"/>
            <a:ext cx="16459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4466"/>
                </a:solidFill>
                <a:latin typeface="Calibri"/>
              </a:rPr>
              <a:t>2025.08 정예팀 선발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803904" y="4919472"/>
            <a:ext cx="16459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3C5FD"/>
                </a:solidFill>
                <a:latin typeface="Georgia"/>
              </a:rPr>
              <a:t>2팀 탈락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803904" y="5038344"/>
            <a:ext cx="16459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4466"/>
                </a:solidFill>
                <a:latin typeface="Calibri"/>
              </a:rPr>
              <a:t>2026.01 1차 평가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605272" y="4919472"/>
            <a:ext cx="16459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3C5FD"/>
                </a:solidFill>
                <a:latin typeface="Georgia"/>
              </a:rPr>
              <a:t>3팀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05272" y="5038344"/>
            <a:ext cx="16459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4466"/>
                </a:solidFill>
                <a:latin typeface="Calibri"/>
              </a:rPr>
              <a:t>현재 경쟁 중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406640" y="4919472"/>
            <a:ext cx="16459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3C5FD"/>
                </a:solidFill>
                <a:latin typeface="Georgia"/>
              </a:rPr>
              <a:t>오픈소스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406640" y="5038344"/>
            <a:ext cx="16459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4466"/>
                </a:solidFill>
                <a:latin typeface="Calibri"/>
              </a:rPr>
              <a:t>최종 결과물 공개 방침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412480" y="4919472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33355"/>
                </a:solidFill>
                <a:latin typeface="Calibri"/>
              </a:rPr>
              <a:t>2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09728"/>
            <a:ext cx="8229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CECBF6"/>
                </a:solidFill>
                <a:latin typeface="Georgia"/>
              </a:rPr>
              <a:t>AI 모델 개발 사업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4937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같은 "AI 모델 개발"이지만 레벨에 따라 난이도·비용·기술이 완전히 다르다  —  정부 사업과 연결해보기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749808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555577"/>
                </a:solidFill>
                <a:latin typeface="Calibri"/>
              </a:rPr>
              <a:t>← 난이도·비용 낮음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749808"/>
            <a:ext cx="1737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555577"/>
                </a:solidFill>
                <a:latin typeface="Calibri"/>
              </a:rPr>
              <a:t>높음 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969264"/>
            <a:ext cx="2071116" cy="950976"/>
          </a:xfrm>
          <a:prstGeom prst="rect">
            <a:avLst/>
          </a:prstGeom>
          <a:solidFill>
            <a:srgbClr val="2A2A42"/>
          </a:solidFill>
          <a:ln w="6350">
            <a:solidFill>
              <a:srgbClr val="888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" y="969264"/>
            <a:ext cx="2071116" cy="54864"/>
          </a:xfrm>
          <a:prstGeom prst="rect">
            <a:avLst/>
          </a:prstGeom>
          <a:solidFill>
            <a:srgbClr val="888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" y="1051560"/>
            <a:ext cx="384048" cy="182880"/>
          </a:xfrm>
          <a:prstGeom prst="roundRect">
            <a:avLst/>
          </a:prstGeom>
          <a:solidFill>
            <a:srgbClr val="0C0C1E"/>
          </a:solidFill>
          <a:ln w="6350">
            <a:solidFill>
              <a:srgbClr val="888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105156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D3D1C7"/>
                </a:solidFill>
                <a:latin typeface="Calibri"/>
              </a:rPr>
              <a:t>Lv.1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1051560"/>
            <a:ext cx="14676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D3D1C7"/>
                </a:solidFill>
                <a:latin typeface="Georgia"/>
              </a:rPr>
              <a:t>사전학습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1280160"/>
            <a:ext cx="19065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780"/>
                </a:solidFill>
                <a:latin typeface="Calibri"/>
              </a:rPr>
              <a:t>Pre-training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1444752"/>
            <a:ext cx="19065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수백억원+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빅테크·국가기관만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73452" y="969264"/>
            <a:ext cx="2071116" cy="950976"/>
          </a:xfrm>
          <a:prstGeom prst="rect">
            <a:avLst/>
          </a:prstGeom>
          <a:solidFill>
            <a:srgbClr val="070D1F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73452" y="969264"/>
            <a:ext cx="2071116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564892" y="1051560"/>
            <a:ext cx="384048" cy="182880"/>
          </a:xfrm>
          <a:prstGeom prst="roundRect">
            <a:avLst/>
          </a:prstGeom>
          <a:solidFill>
            <a:srgbClr val="1E3A5F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64892" y="105156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93C5FD"/>
                </a:solidFill>
                <a:latin typeface="Calibri"/>
              </a:rPr>
              <a:t>Lv.2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3804" y="1051560"/>
            <a:ext cx="14676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93C5FD"/>
                </a:solidFill>
                <a:latin typeface="Georgia"/>
              </a:rPr>
              <a:t>파인튜닝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4892" y="1280160"/>
            <a:ext cx="19065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3B82F6"/>
                </a:solidFill>
                <a:latin typeface="Calibri"/>
              </a:rPr>
              <a:t>Fine-tuning  LoRA·QLoRA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4892" y="1444752"/>
            <a:ext cx="19065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수천만~수억 원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연구기관·AI 전문기업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99432" y="969264"/>
            <a:ext cx="2071116" cy="950976"/>
          </a:xfrm>
          <a:prstGeom prst="rect">
            <a:avLst/>
          </a:prstGeom>
          <a:solidFill>
            <a:srgbClr val="031510"/>
          </a:solidFill>
          <a:ln w="635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99432" y="969264"/>
            <a:ext cx="2071116" cy="54864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690872" y="1051560"/>
            <a:ext cx="384048" cy="182880"/>
          </a:xfrm>
          <a:prstGeom prst="roundRect">
            <a:avLst/>
          </a:prstGeom>
          <a:solidFill>
            <a:srgbClr val="064E3B"/>
          </a:solidFill>
          <a:ln w="635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90872" y="105156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E1F5EE"/>
                </a:solidFill>
                <a:latin typeface="Calibri"/>
              </a:rPr>
              <a:t>Lv.3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9784" y="1051560"/>
            <a:ext cx="14676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E1F5EE"/>
                </a:solidFill>
                <a:latin typeface="Georgia"/>
              </a:rPr>
              <a:t>RAG / 오케스트레이션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90872" y="1280160"/>
            <a:ext cx="19065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1D9E75"/>
                </a:solidFill>
                <a:latin typeface="Calibri"/>
              </a:rPr>
              <a:t>Retrieval &amp; Orchestration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90872" y="1444752"/>
            <a:ext cx="19065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수백~수천만 원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개발팀 보유 기업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25412" y="969264"/>
            <a:ext cx="2071116" cy="950976"/>
          </a:xfrm>
          <a:prstGeom prst="rect">
            <a:avLst/>
          </a:prstGeom>
          <a:solidFill>
            <a:srgbClr val="12102A"/>
          </a:solidFill>
          <a:ln w="6350">
            <a:solidFill>
              <a:srgbClr val="7F7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25412" y="969264"/>
            <a:ext cx="2071116" cy="54864"/>
          </a:xfrm>
          <a:prstGeom prst="rect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816852" y="1051560"/>
            <a:ext cx="384048" cy="182880"/>
          </a:xfrm>
          <a:prstGeom prst="roundRect">
            <a:avLst/>
          </a:prstGeom>
          <a:solidFill>
            <a:srgbClr val="26215C"/>
          </a:solidFill>
          <a:ln w="6350">
            <a:solidFill>
              <a:srgbClr val="7F7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16852" y="1051560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 i="0">
                <a:solidFill>
                  <a:srgbClr val="EEEDFE"/>
                </a:solidFill>
                <a:latin typeface="Calibri"/>
              </a:rPr>
              <a:t>Lv.4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55764" y="1051560"/>
            <a:ext cx="14676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EEEDFE"/>
                </a:solidFill>
                <a:latin typeface="Georgia"/>
              </a:rPr>
              <a:t>솔루션·사업화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6852" y="1280160"/>
            <a:ext cx="1906524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7F77DD"/>
                </a:solidFill>
                <a:latin typeface="Calibri"/>
              </a:rPr>
              <a:t>Application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6852" y="1444752"/>
            <a:ext cx="19065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수천만 원~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SW 개발 역량 기업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7472" y="1920240"/>
            <a:ext cx="9144" cy="128016"/>
          </a:xfrm>
          <a:prstGeom prst="rect">
            <a:avLst/>
          </a:prstGeom>
          <a:solidFill>
            <a:srgbClr val="2A3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35424" y="1920240"/>
            <a:ext cx="9144" cy="128016"/>
          </a:xfrm>
          <a:prstGeom prst="rect">
            <a:avLst/>
          </a:prstGeom>
          <a:solidFill>
            <a:srgbClr val="2A3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7472" y="1920240"/>
            <a:ext cx="4197096" cy="9144"/>
          </a:xfrm>
          <a:prstGeom prst="rect">
            <a:avLst/>
          </a:prstGeom>
          <a:solidFill>
            <a:srgbClr val="2A3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446020" y="1920240"/>
            <a:ext cx="9144" cy="128016"/>
          </a:xfrm>
          <a:prstGeom prst="rect">
            <a:avLst/>
          </a:prstGeom>
          <a:solidFill>
            <a:srgbClr val="2A3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99432" y="1920240"/>
            <a:ext cx="9144" cy="128016"/>
          </a:xfrm>
          <a:prstGeom prst="rect">
            <a:avLst/>
          </a:prstGeom>
          <a:solidFill>
            <a:srgbClr val="1A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787384" y="1920240"/>
            <a:ext cx="9144" cy="128016"/>
          </a:xfrm>
          <a:prstGeom prst="rect">
            <a:avLst/>
          </a:prstGeom>
          <a:solidFill>
            <a:srgbClr val="1A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99432" y="1920240"/>
            <a:ext cx="4197096" cy="9144"/>
          </a:xfrm>
          <a:prstGeom prst="rect">
            <a:avLst/>
          </a:prstGeom>
          <a:solidFill>
            <a:srgbClr val="1A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697980" y="1920240"/>
            <a:ext cx="9144" cy="128016"/>
          </a:xfrm>
          <a:prstGeom prst="rect">
            <a:avLst/>
          </a:prstGeom>
          <a:solidFill>
            <a:srgbClr val="1A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509010" y="1920240"/>
            <a:ext cx="9144" cy="1225295"/>
          </a:xfrm>
          <a:prstGeom prst="rect">
            <a:avLst/>
          </a:prstGeom>
          <a:solidFill>
            <a:srgbClr val="634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634990" y="1920240"/>
            <a:ext cx="9144" cy="1225295"/>
          </a:xfrm>
          <a:prstGeom prst="rect">
            <a:avLst/>
          </a:prstGeom>
          <a:solidFill>
            <a:srgbClr val="065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760970" y="1920240"/>
            <a:ext cx="9144" cy="1225295"/>
          </a:xfrm>
          <a:prstGeom prst="rect">
            <a:avLst/>
          </a:prstGeom>
          <a:solidFill>
            <a:srgbClr val="065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47472" y="2048256"/>
            <a:ext cx="4197096" cy="1042415"/>
          </a:xfrm>
          <a:prstGeom prst="rect">
            <a:avLst/>
          </a:prstGeom>
          <a:solidFill>
            <a:srgbClr val="070D1F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47472" y="2048256"/>
            <a:ext cx="4197096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38912" y="2139696"/>
            <a:ext cx="658368" cy="219456"/>
          </a:xfrm>
          <a:prstGeom prst="roundRect">
            <a:avLst/>
          </a:prstGeom>
          <a:solidFill>
            <a:srgbClr val="1E3A5F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8912" y="2139696"/>
            <a:ext cx="6583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3B82F6"/>
                </a:solidFill>
                <a:latin typeface="Calibri"/>
              </a:rPr>
              <a:t>사업 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152144" y="2139696"/>
            <a:ext cx="621792" cy="219456"/>
          </a:xfrm>
          <a:prstGeom prst="roundRect">
            <a:avLst/>
          </a:prstGeom>
          <a:solidFill>
            <a:srgbClr val="0A1428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52144" y="2139696"/>
            <a:ext cx="6217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93C5FD"/>
                </a:solidFill>
                <a:latin typeface="Calibri"/>
              </a:rPr>
              <a:t>Lv.1~2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28800" y="2139696"/>
            <a:ext cx="262432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Georgia"/>
              </a:rPr>
              <a:t>오픈소스 AI 분야 SW 개발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8912" y="2432304"/>
            <a:ext cx="4014216" cy="91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8912" y="2496312"/>
            <a:ext cx="4014216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과기정통부·NIPA  ·  Lv.1~2 영역 도구 개발</a:t>
            </a:r>
          </a:p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과제당 최대 7억원</a:t>
            </a:r>
          </a:p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민간부담금 면제 (100% 정부지원)</a:t>
            </a:r>
          </a:p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결과물 오픈소스 필수 공개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99432" y="2048256"/>
            <a:ext cx="4197096" cy="1042415"/>
          </a:xfrm>
          <a:prstGeom prst="rect">
            <a:avLst/>
          </a:prstGeom>
          <a:solidFill>
            <a:srgbClr val="031510"/>
          </a:solidFill>
          <a:ln w="635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599432" y="2048256"/>
            <a:ext cx="4197096" cy="54864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690872" y="2139696"/>
            <a:ext cx="658368" cy="219456"/>
          </a:xfrm>
          <a:prstGeom prst="roundRect">
            <a:avLst/>
          </a:prstGeom>
          <a:solidFill>
            <a:srgbClr val="064E3B"/>
          </a:solidFill>
          <a:ln w="635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90872" y="2139696"/>
            <a:ext cx="6583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1D9E75"/>
                </a:solidFill>
                <a:latin typeface="Calibri"/>
              </a:rPr>
              <a:t>사업 B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404103" y="2139696"/>
            <a:ext cx="621792" cy="219456"/>
          </a:xfrm>
          <a:prstGeom prst="roundRect">
            <a:avLst/>
          </a:prstGeom>
          <a:solidFill>
            <a:srgbClr val="0A1428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04103" y="2139696"/>
            <a:ext cx="6217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93C5FD"/>
                </a:solidFill>
                <a:latin typeface="Calibri"/>
              </a:rPr>
              <a:t>Lv.3~4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80759" y="2139696"/>
            <a:ext cx="262432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D9E75"/>
                </a:solidFill>
                <a:latin typeface="Georgia"/>
              </a:rPr>
              <a:t>오픈소스 AI·SW 활용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690872" y="2432304"/>
            <a:ext cx="4014216" cy="9144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690872" y="2496312"/>
            <a:ext cx="4014216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과기정통부·NIPA  ·  Lv.3~4 솔루션 사업화</a:t>
            </a:r>
          </a:p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과제당 최대 11.4억원</a:t>
            </a:r>
          </a:p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민간부담금 필수  ·  대기업 주관 불가</a:t>
            </a:r>
          </a:p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오픈소스 LLM 직접 운영 필수 (외부 API 불가)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47472" y="3145536"/>
            <a:ext cx="4197096" cy="1664207"/>
          </a:xfrm>
          <a:prstGeom prst="rect">
            <a:avLst/>
          </a:prstGeom>
          <a:solidFill>
            <a:srgbClr val="200E00"/>
          </a:solidFill>
          <a:ln w="6350">
            <a:solidFill>
              <a:srgbClr val="EF9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47472" y="3145536"/>
            <a:ext cx="4197096" cy="54864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438912" y="3236976"/>
            <a:ext cx="658368" cy="219456"/>
          </a:xfrm>
          <a:prstGeom prst="roundRect">
            <a:avLst/>
          </a:prstGeom>
          <a:solidFill>
            <a:srgbClr val="633806"/>
          </a:solidFill>
          <a:ln w="6350">
            <a:solidFill>
              <a:srgbClr val="EF9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38912" y="3236976"/>
            <a:ext cx="6583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EF9F27"/>
                </a:solidFill>
                <a:latin typeface="Calibri"/>
              </a:rPr>
              <a:t>사업 C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152144" y="3236976"/>
            <a:ext cx="621792" cy="219456"/>
          </a:xfrm>
          <a:prstGeom prst="roundRect">
            <a:avLst/>
          </a:prstGeom>
          <a:solidFill>
            <a:srgbClr val="0A1428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152144" y="3236976"/>
            <a:ext cx="6217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93C5FD"/>
                </a:solidFill>
                <a:latin typeface="Calibri"/>
              </a:rPr>
              <a:t>Lv.2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828800" y="3236976"/>
            <a:ext cx="262432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EF9F27"/>
                </a:solidFill>
                <a:latin typeface="Georgia"/>
              </a:rPr>
              <a:t>제조암묵지기반 AI 모델개발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38912" y="3529584"/>
            <a:ext cx="4014216" cy="9144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38912" y="3593591"/>
            <a:ext cx="4014216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산업통상자원부  ·  공고예산 480억원 / 과제당 16억 / 9개월</a:t>
            </a:r>
          </a:p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컨소시엄 필수: 명장 + 제조기업 + AI기업</a:t>
            </a:r>
          </a:p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지원 분야: 자동차·조선·철강·기계·전자·바이오·방산 등 10개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99432" y="3145536"/>
            <a:ext cx="4197096" cy="1664207"/>
          </a:xfrm>
          <a:prstGeom prst="rect">
            <a:avLst/>
          </a:prstGeom>
          <a:solidFill>
            <a:srgbClr val="021510"/>
          </a:solidFill>
          <a:ln w="6350">
            <a:solidFill>
              <a:srgbClr val="06A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599432" y="3145536"/>
            <a:ext cx="4197096" cy="54864"/>
          </a:xfrm>
          <a:prstGeom prst="rect">
            <a:avLst/>
          </a:prstGeom>
          <a:solidFill>
            <a:srgbClr val="06A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4690872" y="3236976"/>
            <a:ext cx="658368" cy="219456"/>
          </a:xfrm>
          <a:prstGeom prst="roundRect">
            <a:avLst/>
          </a:prstGeom>
          <a:solidFill>
            <a:srgbClr val="065F4A"/>
          </a:solidFill>
          <a:ln w="6350">
            <a:solidFill>
              <a:srgbClr val="06A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690872" y="3236976"/>
            <a:ext cx="6583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06A9A0"/>
                </a:solidFill>
                <a:latin typeface="Calibri"/>
              </a:rPr>
              <a:t>사업 D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404103" y="3236976"/>
            <a:ext cx="621792" cy="219456"/>
          </a:xfrm>
          <a:prstGeom prst="roundRect">
            <a:avLst/>
          </a:prstGeom>
          <a:solidFill>
            <a:srgbClr val="0A1428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404103" y="3236976"/>
            <a:ext cx="6217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93C5FD"/>
                </a:solidFill>
                <a:latin typeface="Calibri"/>
              </a:rPr>
              <a:t>Lv.2~4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080759" y="3236976"/>
            <a:ext cx="262432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6A9A0"/>
                </a:solidFill>
                <a:latin typeface="Georgia"/>
              </a:rPr>
              <a:t>AX디바이스 개발·실증 (정규트랙)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080759" y="3474720"/>
            <a:ext cx="262432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A7F3D0"/>
                </a:solidFill>
                <a:latin typeface="Calibri"/>
              </a:rPr>
              <a:t>피지컬 AI 부문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690872" y="3712463"/>
            <a:ext cx="4014216" cy="9144"/>
          </a:xfrm>
          <a:prstGeom prst="rect">
            <a:avLst/>
          </a:prstGeom>
          <a:solidFill>
            <a:srgbClr val="06A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690872" y="3776472"/>
            <a:ext cx="401421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과기정통부  ·  2026년  ·  과제당 2억원</a:t>
            </a:r>
          </a:p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로봇·자율이동체·스마트팩토리 등 AI 탑재 디바이스 개발·실증</a:t>
            </a:r>
          </a:p>
          <a:p>
            <a:pPr algn="l"/>
            <a:r>
              <a:rPr sz="950" b="0">
                <a:solidFill>
                  <a:srgbClr val="94A3B8"/>
                </a:solidFill>
                <a:latin typeface="Calibri"/>
              </a:rPr>
              <a:t>온디바이스 AI 기반 자율 판단·행동 구현</a:t>
            </a:r>
          </a:p>
        </p:txBody>
      </p:sp>
      <p:sp>
        <p:nvSpPr>
          <p:cNvPr id="84" name="Rectangle 83"/>
          <p:cNvSpPr/>
          <p:nvPr/>
        </p:nvSpPr>
        <p:spPr>
          <a:xfrm>
            <a:off x="0" y="4882896"/>
            <a:ext cx="9144000" cy="260603"/>
          </a:xfrm>
          <a:prstGeom prst="rect">
            <a:avLst/>
          </a:prstGeom>
          <a:solidFill>
            <a:srgbClr val="030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0" y="4882896"/>
            <a:ext cx="9144000" cy="36576"/>
          </a:xfrm>
          <a:prstGeom prst="rect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01168" y="4919472"/>
            <a:ext cx="164592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CECBF6"/>
                </a:solidFill>
                <a:latin typeface="Georgia"/>
              </a:rPr>
              <a:t>사업A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01168" y="5038344"/>
            <a:ext cx="16459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66"/>
                </a:solidFill>
                <a:latin typeface="Calibri"/>
              </a:rPr>
              <a:t>Lv.1~2  오픈소스 SW 개발 (과기정통부)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002536" y="4919472"/>
            <a:ext cx="164592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CECBF6"/>
                </a:solidFill>
                <a:latin typeface="Georgia"/>
              </a:rPr>
              <a:t>사업B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002536" y="5038344"/>
            <a:ext cx="16459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66"/>
                </a:solidFill>
                <a:latin typeface="Calibri"/>
              </a:rPr>
              <a:t>Lv.3~4  오픈소스 AI·SW 활용 (과기정통부)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803904" y="4919472"/>
            <a:ext cx="164592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CECBF6"/>
                </a:solidFill>
                <a:latin typeface="Georgia"/>
              </a:rPr>
              <a:t>사업C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803904" y="5038344"/>
            <a:ext cx="16459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66"/>
                </a:solidFill>
                <a:latin typeface="Calibri"/>
              </a:rPr>
              <a:t>Lv.2  제조암묵지기반 AI 모델개발 (산업부)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605272" y="4919472"/>
            <a:ext cx="164592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CECBF6"/>
                </a:solidFill>
                <a:latin typeface="Georgia"/>
              </a:rPr>
              <a:t>사업D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605272" y="5038344"/>
            <a:ext cx="16459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66"/>
                </a:solidFill>
                <a:latin typeface="Calibri"/>
              </a:rPr>
              <a:t>Lv.2~4  AX디바이스 개발·실증 (과기정통부)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406640" y="4919472"/>
            <a:ext cx="164592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CECBF6"/>
                </a:solidFill>
                <a:latin typeface="Georgia"/>
              </a:rPr>
              <a:t>과제당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406640" y="5038344"/>
            <a:ext cx="16459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66"/>
                </a:solidFill>
                <a:latin typeface="Calibri"/>
              </a:rPr>
              <a:t>A:7억 / B:11.4억 / C:16억 / D:2억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412480" y="491947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333355"/>
                </a:solidFill>
                <a:latin typeface="Calibri"/>
              </a:rPr>
              <a:t>3 /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0972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EE7B7"/>
                </a:solidFill>
                <a:latin typeface="Georgia"/>
              </a:rPr>
              <a:t>피지컬 AI  &amp;  협동로봇 기술 스택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493776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0B981"/>
                </a:solidFill>
                <a:latin typeface="Calibri"/>
              </a:rPr>
              <a:t>Physical AI  ·  NVIDIA GTC 2026  ·  CES 2026  —  AI가 화면 밖으로 나와 물리적 세계를 행동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768096"/>
            <a:ext cx="4206240" cy="713232"/>
          </a:xfrm>
          <a:prstGeom prst="rect">
            <a:avLst/>
          </a:prstGeom>
          <a:solidFill>
            <a:srgbClr val="061A10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768096"/>
            <a:ext cx="54864" cy="7132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841248"/>
            <a:ext cx="400507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EE7B7"/>
                </a:solidFill>
                <a:latin typeface="Calibri"/>
              </a:rPr>
              <a:t>"Physical AI has arrived.</a:t>
            </a:r>
          </a:p>
          <a:p>
            <a:pPr algn="l"/>
            <a:r>
              <a:rPr sz="1100" b="0" i="1">
                <a:solidFill>
                  <a:srgbClr val="6EE7B7"/>
                </a:solidFill>
                <a:latin typeface="Calibri"/>
              </a:rPr>
              <a:t> Every industrial company will become a robotics company."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426464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10B981"/>
                </a:solidFill>
                <a:latin typeface="Calibri"/>
              </a:rPr>
              <a:t>— Jensen Huang, GTC 2026 + CES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1664208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EE7B7"/>
                </a:solidFill>
                <a:latin typeface="Georgia"/>
              </a:rPr>
              <a:t>NVIDIA Physical AI 3대 핵심 시스템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" y="1956816"/>
            <a:ext cx="4206240" cy="658368"/>
          </a:xfrm>
          <a:prstGeom prst="rect">
            <a:avLst/>
          </a:prstGeom>
          <a:solidFill>
            <a:srgbClr val="051510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" y="2066544"/>
            <a:ext cx="219456" cy="21945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" y="2066544"/>
            <a:ext cx="2194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029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EE7B7"/>
                </a:solidFill>
                <a:latin typeface="Calibri"/>
              </a:rPr>
              <a:t>훈련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28600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  <a:latin typeface="Calibri"/>
              </a:rPr>
              <a:t>Isaac Lab · GR00T N2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39696" y="2084832"/>
            <a:ext cx="2359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로봇 행동 기초 모델 학습 + 강화학습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" y="2670048"/>
            <a:ext cx="4206240" cy="658368"/>
          </a:xfrm>
          <a:prstGeom prst="rect">
            <a:avLst/>
          </a:prstGeom>
          <a:solidFill>
            <a:srgbClr val="051510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0624" y="2779776"/>
            <a:ext cx="219456" cy="21945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" y="2779776"/>
            <a:ext cx="2194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2743200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EE7B7"/>
                </a:solidFill>
                <a:latin typeface="Calibri"/>
              </a:rPr>
              <a:t>시뮬레이션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299923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  <a:latin typeface="Calibri"/>
              </a:rPr>
              <a:t>Omniverse · Cosmos · Newton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39696" y="2798064"/>
            <a:ext cx="2359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디지털 트윈 합성 데이터 대량 생성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" y="3383280"/>
            <a:ext cx="4206240" cy="658368"/>
          </a:xfrm>
          <a:prstGeom prst="rect">
            <a:avLst/>
          </a:prstGeom>
          <a:solidFill>
            <a:srgbClr val="051510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0624" y="3493008"/>
            <a:ext cx="219456" cy="21945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" y="3493008"/>
            <a:ext cx="2194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3456432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EE7B7"/>
                </a:solidFill>
                <a:latin typeface="Calibri"/>
              </a:rPr>
              <a:t>런타임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371246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  <a:latin typeface="Calibri"/>
              </a:rPr>
              <a:t>Jetson Thor · DRIVE Thor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39696" y="3511296"/>
            <a:ext cx="2359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로봇·자동차 내부 탑재 저전력 추론 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3440" y="768096"/>
            <a:ext cx="18288" cy="4133087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768096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EE7B7"/>
                </a:solidFill>
                <a:latin typeface="Georgia"/>
              </a:rPr>
              <a:t>협동로봇 (Cobot) × AI 기술 스택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73168" y="1005840"/>
            <a:ext cx="4206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0B981"/>
                </a:solidFill>
                <a:latin typeface="Calibri"/>
              </a:rPr>
              <a:t>온디바이스 AI · RAG · MCP · Agent 가 협력해 로봇을 지능화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52160" y="4078224"/>
            <a:ext cx="1097280" cy="329184"/>
          </a:xfrm>
          <a:prstGeom prst="rect">
            <a:avLst/>
          </a:prstGeom>
          <a:solidFill>
            <a:srgbClr val="1A3D28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52160" y="411480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EE7B7"/>
                </a:solidFill>
                <a:latin typeface="Calibri"/>
              </a:rPr>
              <a:t>협동로봇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91072" y="2926080"/>
            <a:ext cx="219456" cy="1152144"/>
          </a:xfrm>
          <a:prstGeom prst="rect">
            <a:avLst/>
          </a:prstGeom>
          <a:solidFill>
            <a:srgbClr val="0F5A3A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43600" y="2816352"/>
            <a:ext cx="914400" cy="182880"/>
          </a:xfrm>
          <a:prstGeom prst="rect">
            <a:avLst/>
          </a:prstGeom>
          <a:solidFill>
            <a:srgbClr val="1A7A50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748272" y="2651760"/>
            <a:ext cx="219456" cy="329184"/>
          </a:xfrm>
          <a:prstGeom prst="roundRect">
            <a:avLst/>
          </a:prstGeom>
          <a:solidFill>
            <a:srgbClr val="0F5A3A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217920" y="2743200"/>
            <a:ext cx="182880" cy="182880"/>
          </a:xfrm>
          <a:prstGeom prst="ellipse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675120" y="2743200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773168" y="1280160"/>
            <a:ext cx="1005840" cy="676656"/>
          </a:xfrm>
          <a:prstGeom prst="rect">
            <a:avLst/>
          </a:prstGeom>
          <a:solidFill>
            <a:srgbClr val="2D1B0E"/>
          </a:solidFill>
          <a:ln w="6350">
            <a:solidFill>
              <a:srgbClr val="EF9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773168" y="1280160"/>
            <a:ext cx="45720" cy="676656"/>
          </a:xfrm>
          <a:prstGeom prst="rect">
            <a:avLst/>
          </a:prstGeom>
          <a:solidFill>
            <a:srgbClr val="EF9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64608" y="133502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F9F27"/>
                </a:solidFill>
                <a:latin typeface="Calibri"/>
              </a:rPr>
              <a:t>온디바이스 AI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64608" y="1591056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추론·판단을 로봇 내부에서 수행</a:t>
            </a:r>
          </a:p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네트워크 없이 실시간 동작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97296" y="1536192"/>
            <a:ext cx="274320" cy="164592"/>
          </a:xfrm>
          <a:prstGeom prst="rect">
            <a:avLst/>
          </a:prstGeom>
          <a:solidFill>
            <a:srgbClr val="2D1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97296" y="151790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F9F27"/>
                </a:solidFill>
                <a:latin typeface="Calibri"/>
              </a:rPr>
              <a:t>→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73168" y="2029967"/>
            <a:ext cx="1005840" cy="676656"/>
          </a:xfrm>
          <a:prstGeom prst="rect">
            <a:avLst/>
          </a:prstGeom>
          <a:solidFill>
            <a:srgbClr val="070D1F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773168" y="2029967"/>
            <a:ext cx="45720" cy="67665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64608" y="2084831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B82F6"/>
                </a:solidFill>
                <a:latin typeface="Calibri"/>
              </a:rPr>
              <a:t>RAG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64608" y="2340863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제조 매뉴얼·도면 실시간 검색</a:t>
            </a:r>
          </a:p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최신 지식을 그때그때 참조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797296" y="2286000"/>
            <a:ext cx="274320" cy="164592"/>
          </a:xfrm>
          <a:prstGeom prst="rect">
            <a:avLst/>
          </a:prstGeom>
          <a:solidFill>
            <a:srgbClr val="070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97296" y="2267711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73168" y="2779776"/>
            <a:ext cx="1005840" cy="676656"/>
          </a:xfrm>
          <a:prstGeom prst="rect">
            <a:avLst/>
          </a:prstGeom>
          <a:solidFill>
            <a:srgbClr val="12102A"/>
          </a:solidFill>
          <a:ln w="6350">
            <a:solidFill>
              <a:srgbClr val="7F7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773168" y="2779776"/>
            <a:ext cx="45720" cy="676656"/>
          </a:xfrm>
          <a:prstGeom prst="rect">
            <a:avLst/>
          </a:prstGeom>
          <a:solidFill>
            <a:srgbClr val="7F7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64608" y="283464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F77DD"/>
                </a:solidFill>
                <a:latin typeface="Calibri"/>
              </a:rPr>
              <a:t>MCP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64608" y="3090672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공장 시스템·DB·센서 연결</a:t>
            </a:r>
          </a:p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표준 프로토콜로 도구 호출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797296" y="3035808"/>
            <a:ext cx="274320" cy="164592"/>
          </a:xfrm>
          <a:prstGeom prst="rect">
            <a:avLst/>
          </a:prstGeom>
          <a:solidFill>
            <a:srgbClr val="12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797296" y="301752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F77DD"/>
                </a:solidFill>
                <a:latin typeface="Calibri"/>
              </a:rPr>
              <a:t>→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773168" y="3529584"/>
            <a:ext cx="1005840" cy="676656"/>
          </a:xfrm>
          <a:prstGeom prst="rect">
            <a:avLst/>
          </a:prstGeom>
          <a:solidFill>
            <a:srgbClr val="031A0D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773168" y="3529584"/>
            <a:ext cx="45720" cy="67665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864608" y="358444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  <a:latin typeface="Calibri"/>
              </a:rPr>
              <a:t>Agent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64608" y="3840480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목표까지 자율 계획·실행 루프</a:t>
            </a:r>
          </a:p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RAG·MCP를 부품으로 활용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797296" y="3785615"/>
            <a:ext cx="274320" cy="164592"/>
          </a:xfrm>
          <a:prstGeom prst="rect">
            <a:avLst/>
          </a:prstGeom>
          <a:solidFill>
            <a:srgbClr val="031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797296" y="376732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  <a:latin typeface="Calibri"/>
              </a:rPr>
              <a:t>→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73168" y="4370832"/>
            <a:ext cx="4206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EE7B7"/>
                </a:solidFill>
                <a:latin typeface="Calibri"/>
              </a:rPr>
              <a:t>실시간 판단  ·  자율 작업  ·  협력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4882896"/>
            <a:ext cx="9144000" cy="260603"/>
          </a:xfrm>
          <a:prstGeom prst="rect">
            <a:avLst/>
          </a:prstGeom>
          <a:solidFill>
            <a:srgbClr val="0208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0" y="4882896"/>
            <a:ext cx="91440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1168" y="4919472"/>
            <a:ext cx="16459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EE7B7"/>
                </a:solidFill>
                <a:latin typeface="Georgia"/>
              </a:rPr>
              <a:t>$500B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1168" y="5038344"/>
            <a:ext cx="16459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3D28"/>
                </a:solidFill>
                <a:latin typeface="Calibri"/>
              </a:rPr>
              <a:t>제조 AI 시장 규모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02536" y="4919472"/>
            <a:ext cx="16459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EE7B7"/>
                </a:solidFill>
                <a:latin typeface="Georgia"/>
              </a:rPr>
              <a:t>28개 도시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02536" y="5038344"/>
            <a:ext cx="16459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3D28"/>
                </a:solidFill>
                <a:latin typeface="Calibri"/>
              </a:rPr>
              <a:t>Uber 로보택시 2028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03904" y="4919472"/>
            <a:ext cx="16459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EE7B7"/>
                </a:solidFill>
                <a:latin typeface="Georgia"/>
              </a:rPr>
              <a:t>GR00T N2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803904" y="5038344"/>
            <a:ext cx="16459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3D28"/>
                </a:solidFill>
                <a:latin typeface="Calibri"/>
              </a:rPr>
              <a:t>NVIDIA 범용 로봇 기초 모델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05272" y="4919472"/>
            <a:ext cx="16459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EE7B7"/>
                </a:solidFill>
                <a:latin typeface="Georgia"/>
              </a:rPr>
              <a:t>Jetson Thor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605272" y="5038344"/>
            <a:ext cx="16459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3D28"/>
                </a:solidFill>
                <a:latin typeface="Calibri"/>
              </a:rPr>
              <a:t>온디바이스 추론 칩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406640" y="4919472"/>
            <a:ext cx="16459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EE7B7"/>
                </a:solidFill>
                <a:latin typeface="Georgia"/>
              </a:rPr>
              <a:t>"ChatGPT 모멘트"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06640" y="5038344"/>
            <a:ext cx="16459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3D28"/>
                </a:solidFill>
                <a:latin typeface="Calibri"/>
              </a:rPr>
              <a:t>CES 2026 피지컬 AI 선언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412480" y="4919472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A3D28"/>
                </a:solidFill>
                <a:latin typeface="Calibri"/>
              </a:rP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