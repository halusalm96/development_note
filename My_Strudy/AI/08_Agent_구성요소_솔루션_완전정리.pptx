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구성요소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완전 정리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494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⓪ 완성형 에이전트 · ① 오케스트레이션 · ② 메모리 · ③ 관측성 · ④ 통신 — 제조국·제조사·연도·공개 여부 포함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2834640"/>
            <a:ext cx="1627632" cy="841248"/>
          </a:xfrm>
          <a:prstGeom prst="rect">
            <a:avLst/>
          </a:prstGeom>
          <a:solidFill>
            <a:srgbClr val="2D1B0E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834640"/>
            <a:ext cx="1627632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32004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완성형 에이전트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" y="3438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OpenClaw·Claude Code·Devin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93392" y="2834640"/>
            <a:ext cx="1627632" cy="841248"/>
          </a:xfrm>
          <a:prstGeom prst="rect">
            <a:avLst/>
          </a:prstGeom>
          <a:solidFill>
            <a:srgbClr val="1E1840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2834640"/>
            <a:ext cx="162763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66544" y="32004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66544" y="3438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LangGraph·CrewAI·AutoGen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30752" y="2834640"/>
            <a:ext cx="1627632" cy="841248"/>
          </a:xfrm>
          <a:prstGeom prst="rect">
            <a:avLst/>
          </a:prstGeom>
          <a:solidFill>
            <a:srgbClr val="0F2922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2834640"/>
            <a:ext cx="1627632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03904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03904" y="32004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레이어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03904" y="3438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Mem0·Zep·Letta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68112" y="2834640"/>
            <a:ext cx="1627632" cy="841248"/>
          </a:xfrm>
          <a:prstGeom prst="rect">
            <a:avLst/>
          </a:prstGeom>
          <a:solidFill>
            <a:srgbClr val="0B1F36"/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68112" y="2834640"/>
            <a:ext cx="1627632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1264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41264" y="32004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관측성·평가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41264" y="3438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LangSmith·Langfuse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205472" y="2834640"/>
            <a:ext cx="1627632" cy="841248"/>
          </a:xfrm>
          <a:prstGeom prst="rect">
            <a:avLst/>
          </a:prstGeom>
          <a:solidFill>
            <a:srgbClr val="2D0F0F"/>
          </a:solidFill>
          <a:ln w="12700">
            <a:solidFill>
              <a:srgbClr val="FB7185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2834640"/>
            <a:ext cx="1627632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78624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78624" y="320040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간 통신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78624" y="34381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A2A·MCP·GroupChat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803904"/>
            <a:ext cx="864108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8221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구분:  ⓪ 완성형 제품(바로 동작) vs ① 프레임워크(개발 도구) = AnythingLLM(RAG)과 LangChain(RAG)의 관계와 동일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5대 구성요소 — 전체 구조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⓪ 완성형 제품과 ①~④ 구성 도구는 레이어가 다름 — ⓪는 ①~④를 내장한 상위 산출물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41080" cy="713232"/>
          </a:xfrm>
          <a:prstGeom prst="rect">
            <a:avLst/>
          </a:prstGeom>
          <a:solidFill>
            <a:srgbClr val="FFF7ED"/>
          </a:solidFill>
          <a:ln w="12700">
            <a:solidFill>
              <a:srgbClr val="FCA4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864108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9611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96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896112"/>
            <a:ext cx="8147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완성형 에이전트 제품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11704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설치하면 바로 동작하는 완성품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335024"/>
            <a:ext cx="847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Claude Code · Devin · OpenHands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572768"/>
            <a:ext cx="8641080" cy="65836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572768"/>
            <a:ext cx="864108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66420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664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" y="1664208"/>
            <a:ext cx="8147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오케스트레이션 프레임워크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" y="1938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에이전트를 직접 만드는 개발 도구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103120"/>
            <a:ext cx="847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CrewAI · AutoGen · OpenAI SDK · Google ADK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24528" cy="658368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286000"/>
            <a:ext cx="4224528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3774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" y="237744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메모리 레이어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간 기억 유지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" y="2816352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· Zep · Letta · LangChain Memory · Cognee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286000"/>
            <a:ext cx="4233672" cy="658368"/>
          </a:xfrm>
          <a:prstGeom prst="rect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286000"/>
            <a:ext cx="4233672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3774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84064" y="2377440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관측성·평가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84064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트레이스·비용·품질 모니터링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281635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· Langfuse · AgentOps · Arize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2999232"/>
            <a:ext cx="8641080" cy="658368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" y="2999232"/>
            <a:ext cx="8641080" cy="5486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309067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30906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" y="3090672"/>
            <a:ext cx="8147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간 통신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" y="33649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에이전트끼리 협력하는 표준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7472" y="3529584"/>
            <a:ext cx="8476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· MCP · LangGraph Multi-Agent · AutoGen GroupChat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" y="3730752"/>
            <a:ext cx="8641080" cy="111556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67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⓪ vs ① 핵심 차이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40782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⓪ OpenClaw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773936" y="407822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→ 바로 에이전트로 동작 · 메시징 앱으로 제어 · 코드 불필요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LangGraph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773936" y="4352544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 import → 개발자가 직접 에이전트 설계·구현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⓪ 완성형 에이전트 제품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설치하면 바로 동작하는 완성품 에이전트 — 프레임워크(LangGraph 등)로 만드는 게 아니라, 이미 만들어진 에이전트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329184"/>
          </a:xfrm>
          <a:prstGeom prst="rect">
            <a:avLst/>
          </a:prstGeom>
          <a:solidFill>
            <a:srgbClr val="FFF7ED"/>
          </a:solidFill>
          <a:ln w="12700">
            <a:solidFill>
              <a:srgbClr val="FCA4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86384"/>
            <a:ext cx="54864" cy="32918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8394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= GitHub 역대 최다 ★ (350k+) · 2026년 가장 주목받은 AI 에이전트 · AnythingLLM의 Agent 버전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8641080" cy="274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070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47088" y="120700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개발자/제조사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63824" y="12070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20700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59936" y="120700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21224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53912" y="12070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1499616"/>
            <a:ext cx="8641080" cy="489204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499616"/>
            <a:ext cx="36576" cy="48920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1536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OpenClaw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" y="181051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 Clawdbot·Moltbot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65376" y="1536192"/>
            <a:ext cx="125272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Steinberger → OpenAI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82112" y="1536192"/>
            <a:ext cx="347472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🇦🇹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84448" y="1536192"/>
            <a:ext cx="43891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78224" y="1655064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7C2D12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78224" y="16550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완성형 에이전트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39512" y="1655064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165506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오픈소스(MIT)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72200" y="1536192"/>
            <a:ext cx="268833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역대 최다 350k★ · 메시징 앱 20개+ 제어 · 파일·쉘·브라우저 직접 실행 · Skills 플러그인 100개+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2007108"/>
            <a:ext cx="8641080" cy="4892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20436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" y="23180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코딩 에이전트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65376" y="2043684"/>
            <a:ext cx="125272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82112" y="2043684"/>
            <a:ext cx="347472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84448" y="2043684"/>
            <a:ext cx="43891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078224" y="2162556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78224" y="21625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완성형 에이전트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239512" y="2162556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9512" y="216255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72200" y="2043684"/>
            <a:ext cx="268833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기반 코딩 에이전트 · MCP 네이티브 · 터미널에서 코드 작성·실행·커밋 자율 수행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56032" y="2514600"/>
            <a:ext cx="8641080" cy="4892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255117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1752" y="282549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소프트웨어 엔지니어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865376" y="2551176"/>
            <a:ext cx="125272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 AI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182112" y="2551176"/>
            <a:ext cx="347472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584448" y="2551176"/>
            <a:ext cx="43891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078224" y="2670048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78224" y="26700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완성형 에이전트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239512" y="2670048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9512" y="267004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172200" y="2551176"/>
            <a:ext cx="268833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 최초 AI 소프트웨어 엔지니어 표방 · 독립적 코딩·디버깅·배포 · SWE-bench 1위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6032" y="3022092"/>
            <a:ext cx="8641080" cy="4892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1752" y="30586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OpenHands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01752" y="33329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 OpenDevin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865376" y="3058668"/>
            <a:ext cx="125272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Hands AI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182112" y="3058668"/>
            <a:ext cx="347472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584448" y="3058668"/>
            <a:ext cx="43891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078224" y="3177540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78224" y="31775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완성형 에이전트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239512" y="3177540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39512" y="317754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오픈소스(MIT)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172200" y="3058668"/>
            <a:ext cx="268833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Devin의 오픈소스 대안 · 코드 실행·브라우저·파일 제어 · Docker 격리 실행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56032" y="3529584"/>
            <a:ext cx="8641080" cy="4892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" y="3566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Workspace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865376" y="3566160"/>
            <a:ext cx="125272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(Microsoft)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182112" y="3566160"/>
            <a:ext cx="347472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584448" y="3566160"/>
            <a:ext cx="43891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078224" y="3685032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78224" y="3685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완성형 에이전트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239512" y="3685032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39512" y="36850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172200" y="3566160"/>
            <a:ext cx="268833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이슈→계획→코드→PR 자동화 · GitHub 생태계 완전 통합 · 엔터프라이즈 친화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56032" y="4037076"/>
            <a:ext cx="8641080" cy="4892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" y="40736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301752" y="434797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중국발 범용 에이전트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865376" y="4073652"/>
            <a:ext cx="1252728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Monica AI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3182112" y="4073652"/>
            <a:ext cx="347472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3584448" y="4073652"/>
            <a:ext cx="438912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078224" y="4192524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78224" y="41925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완성형 에이전트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239512" y="4192524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39512" y="419252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6172200" y="4073652"/>
            <a:ext cx="2688336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브라우저·코드·파일 동시 처리 · 범용 작업 자동화 · 2025 초반 바이럴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보안 주의: OpenClaw CVE-2026-25253(WebSocket RCE) · ClawHavoc 공급망 공격(악성 스킬 341개) → 프로덕션 배포 시 NVIDIA NemoClaw 참고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오케스트레이션 프레임워크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개발자가 에이전트를 직접 설계·구현하는 라이브러리 — 계획·루프·도구 연결·멀티에이전트 조율 담당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92808" y="8046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45536" y="80467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47872" y="8046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41648" y="804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74336" y="8046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오케스트레이션 방식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11696" y="804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의존성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44384" y="804672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용도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097280"/>
            <a:ext cx="8641080" cy="411480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097280"/>
            <a:ext cx="36576" cy="4114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11247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" y="134416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공식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11096" y="113385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63824" y="1133856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1133856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59936" y="1216152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9936" y="12161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92624" y="1133856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그래프+조건 엣지+체크포인팅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29984" y="1133856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무관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662672" y="1216152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62672" y="121615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프로덕션 표준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6032" y="1527048"/>
            <a:ext cx="8641080" cy="411480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1527048"/>
            <a:ext cx="36576" cy="4114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1554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" y="177393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기반 팀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911096" y="1563624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163824" y="1563624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66160" y="1563624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059936" y="1645920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9936" y="1645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92624" y="1563624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기반 팀(Crew)·태스크 순차 전달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29984" y="1563624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무관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662672" y="1645920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62672" y="16459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프로토타입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6032" y="1956816"/>
            <a:ext cx="86410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19842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Agent Framework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01752" y="220370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AutoGen+SK 통합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1911096" y="199339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163824" y="1993392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66160" y="1993392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2023→2026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059936" y="207568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59936" y="20756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992624" y="1993392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GroupChat·이벤트 드리븐(v2)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29984" y="1993392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최적화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662672" y="2075688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62672" y="207568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Azure·.NET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6032" y="2386584"/>
            <a:ext cx="8641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" y="24140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01752" y="263347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 Swarm 대체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911096" y="242316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163824" y="242316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566160" y="2423160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2025.03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059936" y="2505456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59936" y="25054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992624" y="2423160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명시적 핸드오프·컨텍스트 전달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29984" y="2423160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전용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662672" y="2505456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62672" y="250545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네이티브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" y="2816352"/>
            <a:ext cx="86410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" y="28437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01752" y="306324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 Kit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911096" y="2852928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163824" y="2852928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566160" y="2852928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2025.04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059936" y="2935224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59936" y="29352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992624" y="2852928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계층형 에이전트 트리·A2A 네이티브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729984" y="2852928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최적화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662672" y="2935224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62672" y="293522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GCP·멀티모달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56032" y="3246120"/>
            <a:ext cx="8641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" y="32735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AI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301752" y="349300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1911096" y="3282696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163824" y="3282696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🇬🇧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3566160" y="3282696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059936" y="3364992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059936" y="33649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992624" y="3282696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안전 Agent·Pydantic 검증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6729984" y="3282696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무관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662672" y="3364992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62672" y="336499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안전성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56032" y="3675888"/>
            <a:ext cx="86410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37033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301752" y="392277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공식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1911096" y="3712464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3163824" y="3712464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🇫🇷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3566160" y="3712464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059936" y="3794760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059936" y="37947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4992624" y="3712464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Agent(Python 직접 실행)·경량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729984" y="3712464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무관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7662672" y="3794760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662672" y="37947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실행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56032" y="4105656"/>
            <a:ext cx="8641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01752" y="41330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MetaGPT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301752" y="435254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팀 시뮬레이션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1911096" y="4142232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DeepWisdom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3163824" y="4142232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3566160" y="4142232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059936" y="422452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059936" y="42245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4992624" y="4142232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PM·개발자·QA 역할 분담 시뮬레이션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6729984" y="4142232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무관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662672" y="4224528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662672" y="422452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개발 자동화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256032" y="4535424"/>
            <a:ext cx="86410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01752" y="45628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Mastra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301752" y="478231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네이티브</a:t>
            </a:r>
            <a:endParaRPr lang="en-US" sz="750" dirty="0"/>
          </a:p>
        </p:txBody>
      </p:sp>
      <p:sp>
        <p:nvSpPr>
          <p:cNvPr id="115" name="Text 113"/>
          <p:cNvSpPr/>
          <p:nvPr/>
        </p:nvSpPr>
        <p:spPr>
          <a:xfrm>
            <a:off x="1911096" y="457200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Mastra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3163824" y="4572000"/>
            <a:ext cx="347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3566160" y="4572000"/>
            <a:ext cx="438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4059936" y="4654296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059936" y="46542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4992624" y="4572000"/>
            <a:ext cx="1682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네이티브·워크플로우+에이전트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6729984" y="4572000"/>
            <a:ext cx="877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무관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7662672" y="4654296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662672" y="465429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스택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2026 5강: LangGraph(프로덕션) · CrewAI(팀 자동화) · MS Agent Framework(Azure) · OpenAI SDK(GPT) · Google ADK(Gemini) · 신흥: Pydantic AI · Smolagents · Mastra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메모리 레이어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간 기억 유지 — 없으면 매 대화가 처음부터 시작 · 에이전트 품질의 숨겨진 핵심 변수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92808" y="8046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45536" y="80467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47872" y="80467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68496" y="804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01184" y="8046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방식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38544" y="804672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8641080" cy="5532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097280"/>
            <a:ext cx="36576" cy="5532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133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1752" y="1389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ECAI 2025 논문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11096" y="1133856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63824" y="1133856"/>
            <a:ext cx="347472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1133856"/>
            <a:ext cx="365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86784" y="1280160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6784" y="12801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19472" y="1133856"/>
            <a:ext cx="168249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 추출·계층형·단일 패스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56832" y="1133856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사용자·세션·에이전트 레벨 분리 · 19개 벡터 백엔드 · 중복 업데이트 방지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1668780"/>
            <a:ext cx="8641080" cy="55321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1668780"/>
            <a:ext cx="36576" cy="5532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17053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752" y="19613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지식 그래프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11096" y="1705356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Getzep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63824" y="1705356"/>
            <a:ext cx="347472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1705356"/>
            <a:ext cx="365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86784" y="1851660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86784" y="18516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19472" y="1705356"/>
            <a:ext cx="168249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시간적 지식 그래프 · 발생 시점 추적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56832" y="1705356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엔티티·관계·시간 모두 추적 · B2B 복잡 워크플로우 강점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2240280"/>
            <a:ext cx="8641080" cy="5532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2276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Letta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01752" y="2532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 MemGPT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911096" y="2276856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Letta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63824" y="2276856"/>
            <a:ext cx="347472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66160" y="2276856"/>
            <a:ext cx="365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86784" y="2423160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86784" y="24231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19472" y="2276856"/>
            <a:ext cx="168249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무한 컨텍스트 · 자체 메모리 편집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656832" y="2276856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패러다임 적용 · 장기 실행 에이전트 · 자율 기억 관리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6032" y="2811780"/>
            <a:ext cx="864108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28483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Cognee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911096" y="2848356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Cognee AI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63824" y="2848356"/>
            <a:ext cx="347472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566160" y="2848356"/>
            <a:ext cx="365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86784" y="2994660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86784" y="29946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919472" y="2848356"/>
            <a:ext cx="168249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그래프 우선 · RAG+그래프 통합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56832" y="2848356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기반 · 문서 무거운 에이전트 · 관계 추론 강점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6032" y="3383280"/>
            <a:ext cx="8641080" cy="5532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" y="3419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Memory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911096" y="3419856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163824" y="3419856"/>
            <a:ext cx="347472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566160" y="3419856"/>
            <a:ext cx="365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986784" y="3566160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86784" y="35661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919472" y="3419856"/>
            <a:ext cx="168249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버퍼·요약·벡터스토어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56832" y="3419856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LangGraph에 통합 · 추가 도입 없이 사용 가능 · 생태계 의존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56032" y="3954780"/>
            <a:ext cx="8641080" cy="5532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1752" y="39913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Memory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911096" y="3991356"/>
            <a:ext cx="1188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163824" y="3991356"/>
            <a:ext cx="347472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3566160" y="3991356"/>
            <a:ext cx="3657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986784" y="4137660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86784" y="413766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919472" y="3991356"/>
            <a:ext cx="168249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대화+문서 통합 검색 · 컴포저블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56832" y="3991356"/>
            <a:ext cx="21945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대화+참조 문서 동시 검색 · 문서 많은 에이전트 강점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개인화(챗봇·지원): Mem0 · B2B 복잡 파이프라인: Zep · 장기 자율 에이전트: Letta · LangGraph 이미 사용: LangChain Memory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관측성·평가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트레이스·비용·품질·오류를 모니터링 — 없으면 프로덕션 에이전트는 블랙박스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329184"/>
          </a:xfrm>
          <a:prstGeom prst="rect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8458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6강:  LangSmith(LangGraph 최적) · Langfuse(오픈소스) · AgentOps(에이전트 특화) · Arize Phoenix(ML팀) · Braintrust · Datadog LLM Obs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8641080" cy="27432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0700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92808" y="12070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45536" y="12070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47872" y="12070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68496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01184" y="120700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38544" y="120700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1499616"/>
            <a:ext cx="8641080" cy="46634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499616"/>
            <a:ext cx="36576" cy="46634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5270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" y="1773936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최적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11096" y="153619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63824" y="1536192"/>
            <a:ext cx="3474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1536192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86784" y="1645920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6784" y="1645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19472" y="1536192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추적·디버깅·평가·어노테이션 큐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56832" y="1536192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가장 깊은 통합 · 오버헤드 최소 · 월 5k 트레이스 무료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1984248"/>
            <a:ext cx="8641080" cy="46634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1984248"/>
            <a:ext cx="36576" cy="46634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0116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" y="225856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인수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911096" y="202082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Langfuse/CH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63824" y="2020824"/>
            <a:ext cx="3474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🇩🇪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66160" y="2020824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86784" y="2130552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86784" y="213055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19472" y="2020824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추적·프롬프트 관리·LLM-as-Judge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656832" y="2020824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셀프호스팅 가능 · 월 5만 이벤트 무료 · 21k GitHub★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2468880"/>
            <a:ext cx="8641080" cy="4663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24963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11096" y="2505456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AgentOps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163824" y="2505456"/>
            <a:ext cx="3474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66160" y="2505456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986784" y="2615184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86784" y="26151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19472" y="2505456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LLM 추적 · 비용 최적화 · 세션 재생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656832" y="250545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특화 · CrewAI·AutoGen 네이티브 통합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6032" y="2953512"/>
            <a:ext cx="86410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9809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911096" y="299008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AI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163824" y="2990088"/>
            <a:ext cx="3474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566160" y="2990088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986784" y="3099816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86784" y="30998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919472" y="2990088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시각화 · 드리프트 감지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656832" y="2990088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셀프호스팅 무제한 · ML팀 친화 · OpenTelemetry 기반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56032" y="3438144"/>
            <a:ext cx="8641080" cy="4663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1752" y="3465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911096" y="3474720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Braintrust Data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163824" y="3474720"/>
            <a:ext cx="3474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566160" y="3474720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986784" y="358444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86784" y="35844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919472" y="3474720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비교 · LLM-as-Judge · 데이터셋 평가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656832" y="347472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스팬 무료 · 체계적 회귀 테스트 · 비용 추적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56032" y="3922776"/>
            <a:ext cx="86410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" y="39502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911096" y="3959352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Helicone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3163824" y="3959352"/>
            <a:ext cx="3474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566160" y="3959352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986784" y="4069080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86784" y="4069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919472" y="3959352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프록시 방식 즉시 설치 · 캐싱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656832" y="3959352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빠른 설치(URL 변경만) · 단순 사용 케이스 최적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256032" y="4407408"/>
            <a:ext cx="8641080" cy="46634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1752" y="4434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LLM Obs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911096" y="4443984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163824" y="4443984"/>
            <a:ext cx="34747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3566160" y="4443984"/>
            <a:ext cx="3657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986784" y="4553712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86784" y="45537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919472" y="4443984"/>
            <a:ext cx="16824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추적+인프라 통합 모니터링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6656832" y="4443984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Datadog 팀 최적 · 인프라+에이전트 통합 관측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LangGraph 스택: LangSmith · 오픈소스·셀프호스팅: Langfuse · 에이전트 특화: AgentOps · ML팀: Arize · 기존 Datadog 사용: Datadog LLM Obs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Agent 간 통신 프로토콜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에이전트끼리 협력하는 표준 방식 — MCP(도구 연결)와 A2A(에이전트 통신)가 2026년 양대 축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329184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8458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에이전트 ↔ 도구·데이터 연결  /  A2A = 에이전트 ↔ 에이전트 통신  →  2026년 AI 연결의 두 축 (모두 Linux Foundation 거버넌스)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8641080" cy="274320"/>
          </a:xfrm>
          <a:prstGeom prst="rect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070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프로토콜·방식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84248" y="12070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36976" y="12070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39312" y="12070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59936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92624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25312" y="1207008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역할·특징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1499616"/>
            <a:ext cx="8641080" cy="470916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499616"/>
            <a:ext cx="36576" cy="47091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5270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(Agent-to-Agent)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" y="1773936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MCP의 에이전트 버전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002536" y="153619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→ AAIF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55264" y="1536192"/>
            <a:ext cx="347472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1536192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2025.04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078224" y="1655064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78224" y="165506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10912" y="1655064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6550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943600" y="1536192"/>
            <a:ext cx="290779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간 표준 통신 · 다른 프레임워크 에이전트 연결 가능 · 태스크 기반 인터페이스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1988820"/>
            <a:ext cx="8641080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0162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(도구 연결용)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1752" y="226314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슬라이드 정리됨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002536" y="2025396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→ AAIF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55264" y="2025396"/>
            <a:ext cx="347472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2025396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2024.11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078224" y="2144268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78224" y="214426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프로토콜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010912" y="214426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21442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943600" y="2025396"/>
            <a:ext cx="290779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↔ 도구·DB·API 연결 · A2A와 상호보완 관계 · 97M+ 월간 다운로드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2478024"/>
            <a:ext cx="8641080" cy="4709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" y="25054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Function Calling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01752" y="275234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이전 방식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002536" y="2514600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55264" y="2514600"/>
            <a:ext cx="347472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0" y="2514600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078224" y="2633472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78224" y="263347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기능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010912" y="2633472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2633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943600" y="2514600"/>
            <a:ext cx="290779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모델의 도구 호출 결정·실행 · JSON Schema 기반 · GPT 전용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2967228"/>
            <a:ext cx="8641080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" y="29946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002536" y="300380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55264" y="3003804"/>
            <a:ext cx="347472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657600" y="3003804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078224" y="3122676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78224" y="312267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010912" y="3122676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10912" y="31226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943600" y="3003804"/>
            <a:ext cx="290779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 노드로 서브에이전트 조율 · 슈퍼바이저→서브에이전트 라우팅 · 체크포인팅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" y="3456432"/>
            <a:ext cx="8641080" cy="4709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" y="34838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Flows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002536" y="3493008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55264" y="3493008"/>
            <a:ext cx="347472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657600" y="3493008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078224" y="3611880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78224" y="361188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010912" y="3611880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10912" y="3611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5943600" y="3493008"/>
            <a:ext cx="290779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Crew를 파이프라인으로 연결 · 이벤트 기반 트리거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6032" y="3945636"/>
            <a:ext cx="8641080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1752" y="39730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GroupChat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002536" y="398221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255264" y="3982212"/>
            <a:ext cx="347472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657600" y="3982212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078224" y="4101084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78224" y="410108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010912" y="4101084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10912" y="41010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5943600" y="3982212"/>
            <a:ext cx="290779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 에이전트 대화형 협력 · 토론·투표·합의 패턴 · 복잡 추론 강점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56032" y="4434840"/>
            <a:ext cx="8641080" cy="4709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1752" y="44622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Tool Use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301752" y="4709160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네이티브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2002536" y="4471416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255264" y="4471416"/>
            <a:ext cx="347472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3657600" y="4471416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078224" y="4590288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991B1B">
                <a:alpha val="6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078224" y="459028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기능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010912" y="459028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10912" y="45902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5943600" y="4471416"/>
            <a:ext cx="2907792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네이티브 · 확장 사고(Extended Thinking) 결합 · 서브에이전트 생성 · 안전 우선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MCP(에이전트↔도구) + A2A(에이전트↔에이전트) = 2026 AI 연결 두 축 · A2A는 Google ADK 네이티브, LangGraph·CrewAI도 어댑터 제공 중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상황별 선택 가이드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680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구성요소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65376" y="768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A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개인·입문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22192" y="768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팀·스타트업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61888" y="768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8595360" cy="493776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4300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⓪ 완성형 에이전트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83664" y="114300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(로컬·무료)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14300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+ Claude 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0176" y="114300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Workspace / Devin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8595360" cy="493776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6420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오케스트레이션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83664" y="166420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(역할 기반 팀 조합)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166420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(상태 제어)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0176" y="166420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MS Agent Framework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121408"/>
            <a:ext cx="8595360" cy="493776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85416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메모리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83664" y="218541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Memory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185416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0176" y="2185416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 (시간 지식 그래프) + Mem0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42616"/>
            <a:ext cx="8595360" cy="493776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706624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관측성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83664" y="270662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(무료·셀프호스팅)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2706624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+ LangSmith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0176" y="2706624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+ Datadog LLM Obs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163824"/>
            <a:ext cx="8595360" cy="493776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227832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통신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83664" y="3227832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(도구 연결)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3227832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A2A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0176" y="3227832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A2A + 자체 게이트웨이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685032"/>
            <a:ext cx="8595360" cy="493776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74904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모델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83664" y="374904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(로컬 무료)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0" y="374904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GPT-4o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80176" y="3749040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+ 자체 파인튜닝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206240"/>
            <a:ext cx="8595360" cy="493776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270248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배포·비용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83664" y="4270248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PC · 무료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4270248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클라우드 · 수십만~수백만원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0176" y="427024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온프레미스+클라우드 · 수백만원+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69087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MCP · Agent 3종 세트 완료 — 시리즈 전체 PPT: RAG_구성요소, MCP_구성요소, Agent_구성요소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구성요소 &amp; 솔루션 완전 정리</dc:title>
  <dc:subject>PptxGenJS Presentation</dc:subject>
  <dc:creator>PptxGenJS</dc:creator>
  <cp:lastModifiedBy>PptxGenJS</cp:lastModifiedBy>
  <cp:revision>1</cp:revision>
  <dcterms:created xsi:type="dcterms:W3CDTF">2026-05-15T03:32:18Z</dcterms:created>
  <dcterms:modified xsi:type="dcterms:W3CDTF">2026-05-15T03:32:18Z</dcterms:modified>
</cp:coreProperties>
</file>