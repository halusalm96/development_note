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엔진 &amp; 파운데이션 모델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1214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엔진 10종 · 파운데이션 모델 14종 완전 비교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제품명 · 제조사 · 국가 · 출시연도 · 최신버전 · 오픈 여부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2724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4564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엔진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3108960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12724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97480" y="34564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파운데이션 모델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3108960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12724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5개국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34564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국가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95160" y="3108960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312724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34564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오픈소스·웨이트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추론 엔진 비교 — 10종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 — 모델을 실제로 실행하는 런타임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86410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06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제품명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27632" y="740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84448" y="7406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16552" y="740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01768" y="7406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특징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16952" y="740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 여부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042416"/>
            <a:ext cx="8641080" cy="36393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078992"/>
            <a:ext cx="1280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45920" y="1078992"/>
            <a:ext cx="1874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 → PyTorch Foundation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02736" y="1078992"/>
            <a:ext cx="768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1078992"/>
            <a:ext cx="512064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0056" y="1078992"/>
            <a:ext cx="254203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PagedAttention, 고처리량 서빙, 사실상 표준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635240" y="1133856"/>
            <a:ext cx="950976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133856"/>
            <a:ext cx="950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1415491"/>
            <a:ext cx="8641080" cy="3639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1452067"/>
            <a:ext cx="1280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TensorRT-LLM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45920" y="1452067"/>
            <a:ext cx="1874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02736" y="1452067"/>
            <a:ext cx="768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1452067"/>
            <a:ext cx="512064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0056" y="1452067"/>
            <a:ext cx="254203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 최적화, 최고 성능, 양자화 지원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35240" y="1506931"/>
            <a:ext cx="950976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506931"/>
            <a:ext cx="950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1788566"/>
            <a:ext cx="8641080" cy="36393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1825142"/>
            <a:ext cx="1280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45920" y="1825142"/>
            <a:ext cx="1874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02736" y="1825142"/>
            <a:ext cx="768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34840" y="1825142"/>
            <a:ext cx="512064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0056" y="1825142"/>
            <a:ext cx="254203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크로스 플랫폼, CPU / GPU / 엣지 모두 지원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635240" y="1880006"/>
            <a:ext cx="950976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1880006"/>
            <a:ext cx="950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2161642"/>
            <a:ext cx="8641080" cy="3639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2198218"/>
            <a:ext cx="1280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645920" y="2198218"/>
            <a:ext cx="1874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Inc.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02736" y="2198218"/>
            <a:ext cx="768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434840" y="2198218"/>
            <a:ext cx="512064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0056" y="2198218"/>
            <a:ext cx="254203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실행 특화, 설치 한 줄, 개발자 친화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635240" y="2253082"/>
            <a:ext cx="950976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35240" y="2253082"/>
            <a:ext cx="950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6032" y="2534717"/>
            <a:ext cx="8641080" cy="36393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2571293"/>
            <a:ext cx="1280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645920" y="2571293"/>
            <a:ext cx="1874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 Gerganov (개인)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02736" y="2571293"/>
            <a:ext cx="768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🇧🇬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434840" y="2571293"/>
            <a:ext cx="512064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0056" y="2571293"/>
            <a:ext cx="254203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경량 엔진, CPU만으로 구동 가능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635240" y="2626157"/>
            <a:ext cx="950976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2626157"/>
            <a:ext cx="950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" y="2907792"/>
            <a:ext cx="8641080" cy="3639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" y="2944368"/>
            <a:ext cx="1280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SGLang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645920" y="2944368"/>
            <a:ext cx="1874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02736" y="2944368"/>
            <a:ext cx="768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434840" y="2944368"/>
            <a:ext cx="512064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20056" y="2944368"/>
            <a:ext cx="254203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 생성, 멀티모달, 빠른 배치 처리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635240" y="2999232"/>
            <a:ext cx="950976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35240" y="2999232"/>
            <a:ext cx="950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6032" y="3280867"/>
            <a:ext cx="8641080" cy="36393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2608" y="3317443"/>
            <a:ext cx="1280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 / Dynamo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645920" y="3317443"/>
            <a:ext cx="1874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602736" y="3317443"/>
            <a:ext cx="768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434840" y="3317443"/>
            <a:ext cx="512064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20056" y="3317443"/>
            <a:ext cx="254203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프레임워크 서빙, 분산 추론 오케스트레이션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635240" y="3372307"/>
            <a:ext cx="950976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35240" y="3372307"/>
            <a:ext cx="950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56032" y="3653942"/>
            <a:ext cx="8641080" cy="3639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2608" y="3690518"/>
            <a:ext cx="1280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TGI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645920" y="3690518"/>
            <a:ext cx="1874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602736" y="3690518"/>
            <a:ext cx="768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🇫🇷🇺🇸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434840" y="3690518"/>
            <a:ext cx="512064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020056" y="3690518"/>
            <a:ext cx="254203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생태계 통합, 오픈소스 모델 즉시 배포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635240" y="3745382"/>
            <a:ext cx="950976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35240" y="3745382"/>
            <a:ext cx="950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56032" y="4027018"/>
            <a:ext cx="8641080" cy="36393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92608" y="4063594"/>
            <a:ext cx="1280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645920" y="4063594"/>
            <a:ext cx="1874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602736" y="4063594"/>
            <a:ext cx="768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4434840" y="4063594"/>
            <a:ext cx="512064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020056" y="4063594"/>
            <a:ext cx="254203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CPU / GPU / NPU 최적화, 엣지 AI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635240" y="4118458"/>
            <a:ext cx="950976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35240" y="4118458"/>
            <a:ext cx="950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56032" y="4400093"/>
            <a:ext cx="8641080" cy="3639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92608" y="4436669"/>
            <a:ext cx="1280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LMDeploy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1645920" y="4436669"/>
            <a:ext cx="1874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Shanghai AI Lab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602736" y="4436669"/>
            <a:ext cx="768096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🇨🇳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4434840" y="4436669"/>
            <a:ext cx="512064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020056" y="4436669"/>
            <a:ext cx="254203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TurboMind 커널, 중국 모델 최적화, 고처리량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635240" y="4491533"/>
            <a:ext cx="950976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35240" y="4491533"/>
            <a:ext cx="950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56032" y="5239512"/>
            <a:ext cx="8641080" cy="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56032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추론 엔진 10종 모두 오픈소스 — 하드웨어 업체·대학·클라우드사가 생태계 주도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파운데이션 모델 비교 — 14종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— 범용 사전학습 대형 언어 모델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77724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066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제품명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64208" y="7406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74066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32504" y="7406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최초출시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740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최신버전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28816" y="740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 여부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060704"/>
            <a:ext cx="7772400" cy="29535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097280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시리즈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82496" y="1097280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10128" y="1097280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50792" y="1097280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81728" y="1097280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 (2026)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47104" y="1115568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1115568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1365199"/>
            <a:ext cx="7772400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1401775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시리즈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82496" y="1401775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10128" y="1401775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50792" y="1401775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81728" y="1401775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4.6 (2026)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47104" y="1420063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1420063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56032" y="1669694"/>
            <a:ext cx="7772400" cy="29535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1706270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시리즈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82496" y="1706270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10128" y="1706270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50792" y="1706270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81728" y="1706270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(2026)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47104" y="1724558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1724558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6032" y="1974190"/>
            <a:ext cx="7772400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2010766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시리즈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82496" y="2010766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10128" y="2010766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050792" y="2010766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81728" y="2010766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 (2026)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47104" y="2029054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47104" y="2029054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6032" y="2278685"/>
            <a:ext cx="7772400" cy="29535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2315261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시리즈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682496" y="2315261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310128" y="2315261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050792" y="2315261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681728" y="2315261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(2025)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47104" y="2333549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47104" y="2333549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오픈웨이트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56032" y="2583180"/>
            <a:ext cx="7772400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" y="2619756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시리즈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682496" y="2619756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310128" y="2619756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🇫🇷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050792" y="2619756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681728" y="2619756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(2025)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547104" y="2638044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47104" y="2638044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일부공개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6032" y="2887675"/>
            <a:ext cx="7772400" cy="29535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2608" y="2924251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시리즈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682496" y="2924251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AI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310128" y="2924251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🇨🇳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050792" y="2924251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681728" y="2924251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 (2025)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547104" y="2942539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47104" y="2942539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56032" y="3192170"/>
            <a:ext cx="7772400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2608" y="3228746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시리즈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682496" y="3228746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310128" y="3228746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🇨🇳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050792" y="3228746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681728" y="3228746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3.5 (2025~)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547104" y="3247034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47104" y="3247034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오픈웨이트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56032" y="3496666"/>
            <a:ext cx="7772400" cy="29535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92608" y="3533242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시리즈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682496" y="3533242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3310128" y="3533242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050792" y="3533242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681728" y="3533242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(2026)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547104" y="3551530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47104" y="3551530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56032" y="3801161"/>
            <a:ext cx="7772400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92608" y="3837737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시리즈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682496" y="3837737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3310128" y="3837737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050792" y="3837737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4681728" y="3837737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 (2025)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547104" y="3856025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47104" y="3856025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56032" y="4105656"/>
            <a:ext cx="7772400" cy="29535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92608" y="4142232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682496" y="4142232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3310128" y="4142232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🇺🇸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4050792" y="4142232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4681728" y="4142232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Cascade 2 (2026)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547104" y="4160520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47104" y="4160520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256032" y="4410151"/>
            <a:ext cx="7772400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92608" y="4446727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시리즈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1682496" y="4446727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Moonshot AI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3310128" y="4446727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🇨🇳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4050792" y="4446727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4681728" y="4446727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K2.6 (2025)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6547104" y="4465015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47104" y="4465015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오픈웨이트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256032" y="4714646"/>
            <a:ext cx="7772400" cy="29535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92608" y="4751222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ERNIE 시리즈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1682496" y="4751222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Baidu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3310128" y="4751222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🇨🇳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050792" y="4751222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4681728" y="4751222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ERNIE 4.5 (2025)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547104" y="4769510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547104" y="4769510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256032" y="5019142"/>
            <a:ext cx="7772400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92608" y="5055718"/>
            <a:ext cx="131673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시리즈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1682496" y="5055718"/>
            <a:ext cx="15544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TII (UAE)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3310128" y="5055718"/>
            <a:ext cx="676656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🇦🇪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4050792" y="5055718"/>
            <a:ext cx="557784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4681728" y="5055718"/>
            <a:ext cx="178308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3 (2024)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6547104" y="5074006"/>
            <a:ext cx="1024128" cy="1828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547104" y="5074006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국가별 AI 스택 패턴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78892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04672"/>
            <a:ext cx="27889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96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🇺🇸 미국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" y="1243584"/>
            <a:ext cx="1463040" cy="219456"/>
          </a:xfrm>
          <a:prstGeom prst="roundRect">
            <a:avLst>
              <a:gd name="adj" fmla="val 29167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4358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압도적 주도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536192"/>
            <a:ext cx="2606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엔진·모델 모두 리드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Anthropic · Google · Meta · Microsoft · NVIDIA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82112" y="804672"/>
            <a:ext cx="2788920" cy="1691640"/>
          </a:xfrm>
          <a:prstGeom prst="rect">
            <a:avLst/>
          </a:prstGeom>
          <a:solidFill>
            <a:srgbClr val="4C1D1D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804672"/>
            <a:ext cx="2788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896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🇨🇳 중국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73552" y="1243584"/>
            <a:ext cx="1463040" cy="219456"/>
          </a:xfrm>
          <a:prstGeom prst="roundRect">
            <a:avLst>
              <a:gd name="adj" fmla="val 29167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24358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분야 추격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73552" y="1536192"/>
            <a:ext cx="2606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오픈웨이트 전략으로 빠르게 공개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· Alibaba(Qwen) · Baidu(ERNIE) · Moonshot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08192" y="804672"/>
            <a:ext cx="2788920" cy="1691640"/>
          </a:xfrm>
          <a:prstGeom prst="rect">
            <a:avLst/>
          </a:prstGeom>
          <a:solidFill>
            <a:srgbClr val="2D1F5E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08192" y="804672"/>
            <a:ext cx="278892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896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🇫🇷 프랑스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99632" y="1243584"/>
            <a:ext cx="1463040" cy="219456"/>
          </a:xfrm>
          <a:prstGeom prst="roundRect">
            <a:avLst>
              <a:gd name="adj" fmla="val 29167"/>
            </a:avLst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124358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유럽 유일 주자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9632" y="1536192"/>
            <a:ext cx="2606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유럽의 AI 자주권 상징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오픈소스, 유럽 규제 친화적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2724912"/>
            <a:ext cx="2788920" cy="1691640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724912"/>
            <a:ext cx="27889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8163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🇦🇪 UAE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47472" y="3163824"/>
            <a:ext cx="1463040" cy="219456"/>
          </a:xfrm>
          <a:prstGeom prst="roundRect">
            <a:avLst>
              <a:gd name="adj" fmla="val 29167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16382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중동 독립 플레이어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" y="3456432"/>
            <a:ext cx="2606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TII — Falcon 시리즈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중동 최초 주요 오픈소스 모델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82112" y="2724912"/>
            <a:ext cx="2788920" cy="1691640"/>
          </a:xfrm>
          <a:prstGeom prst="rect">
            <a:avLst/>
          </a:prstGeom>
          <a:solidFill>
            <a:srgbClr val="451A03"/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82112" y="2724912"/>
            <a:ext cx="278892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28163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🇧🇬 불가리아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273552" y="3163824"/>
            <a:ext cx="1463040" cy="219456"/>
          </a:xfrm>
          <a:prstGeom prst="roundRect">
            <a:avLst>
              <a:gd name="adj" fmla="val 29167"/>
            </a:avLst>
          </a:prstGeom>
          <a:solidFill>
            <a:srgbClr val="FBBF24">
              <a:alpha val="25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316382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개발자 이변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73552" y="3456432"/>
            <a:ext cx="2606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 Gerganov (개인) — llama.cpp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로컬 AI 생태계를 혼자 바꿈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4462272"/>
            <a:ext cx="8641080" cy="475488"/>
          </a:xfrm>
          <a:prstGeom prst="rect">
            <a:avLst/>
          </a:prstGeom>
          <a:solidFill>
            <a:srgbClr val="0F2942"/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4805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Trend  오픈소스·오픈웨이트 비율 60%+ — 중국의 공격적 공개 전략이 글로벌 생태계를 빠르게 재편 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엔진 &amp; 모델 비교</dc:title>
  <dc:subject>PptxGenJS Presentation</dc:subject>
  <dc:creator>PptxGenJS</dc:creator>
  <cp:lastModifiedBy>PptxGenJS</cp:lastModifiedBy>
  <cp:revision>1</cp:revision>
  <dcterms:created xsi:type="dcterms:W3CDTF">2026-05-15T01:49:56Z</dcterms:created>
  <dcterms:modified xsi:type="dcterms:W3CDTF">2026-05-15T01:49:56Z</dcterms:modified>
</cp:coreProperties>
</file>